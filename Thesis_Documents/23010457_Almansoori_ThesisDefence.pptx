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56" r:id="rId3"/>
    <p:sldId id="365" r:id="rId4"/>
    <p:sldId id="364" r:id="rId5"/>
    <p:sldId id="370" r:id="rId6"/>
    <p:sldId id="371" r:id="rId7"/>
    <p:sldId id="372" r:id="rId8"/>
    <p:sldId id="362" r:id="rId9"/>
    <p:sldId id="418" r:id="rId10"/>
    <p:sldId id="377" r:id="rId11"/>
    <p:sldId id="380" r:id="rId12"/>
    <p:sldId id="385" r:id="rId13"/>
    <p:sldId id="382" r:id="rId14"/>
    <p:sldId id="386" r:id="rId15"/>
    <p:sldId id="388" r:id="rId16"/>
    <p:sldId id="389" r:id="rId17"/>
    <p:sldId id="391" r:id="rId18"/>
    <p:sldId id="392" r:id="rId19"/>
    <p:sldId id="393" r:id="rId20"/>
    <p:sldId id="394" r:id="rId21"/>
    <p:sldId id="373" r:id="rId22"/>
    <p:sldId id="396" r:id="rId23"/>
    <p:sldId id="360" r:id="rId24"/>
    <p:sldId id="395" r:id="rId25"/>
    <p:sldId id="397" r:id="rId26"/>
    <p:sldId id="398" r:id="rId27"/>
    <p:sldId id="399" r:id="rId28"/>
    <p:sldId id="318" r:id="rId29"/>
    <p:sldId id="296" r:id="rId30"/>
    <p:sldId id="297" r:id="rId31"/>
    <p:sldId id="298" r:id="rId32"/>
    <p:sldId id="343" r:id="rId33"/>
    <p:sldId id="400" r:id="rId34"/>
    <p:sldId id="401" r:id="rId35"/>
    <p:sldId id="406" r:id="rId36"/>
    <p:sldId id="402" r:id="rId37"/>
    <p:sldId id="403" r:id="rId38"/>
    <p:sldId id="404" r:id="rId39"/>
    <p:sldId id="405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363" r:id="rId49"/>
    <p:sldId id="415" r:id="rId50"/>
    <p:sldId id="416" r:id="rId51"/>
    <p:sldId id="417" r:id="rId52"/>
    <p:sldId id="36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A40"/>
    <a:srgbClr val="1D4999"/>
    <a:srgbClr val="BF5107"/>
    <a:srgbClr val="3C6899"/>
    <a:srgbClr val="445268"/>
    <a:srgbClr val="D3DEF1"/>
    <a:srgbClr val="DAE8D2"/>
    <a:srgbClr val="D2DCF1"/>
    <a:srgbClr val="D2DFE6"/>
    <a:srgbClr val="D3E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694" autoAdjust="0"/>
  </p:normalViewPr>
  <p:slideViewPr>
    <p:cSldViewPr snapToGrid="0">
      <p:cViewPr varScale="1">
        <p:scale>
          <a:sx n="92" d="100"/>
          <a:sy n="92" d="100"/>
        </p:scale>
        <p:origin x="84" y="9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D384A-446D-49D3-85B2-6AF5FA1BFB3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0ECCD-4B8F-4EE5-BE50-712F75256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9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29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9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7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770A-E5C5-CC00-B106-D3629306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29F4D-33DD-056D-2508-545565C7A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C111F-DF93-073E-114E-169FFD311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777CE-94D4-0689-3280-931789C17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75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60F3-69B9-F324-DC3B-E02D2FA4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5D7FD-A5A2-00C7-63C3-92CD8668F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4DE1E-08FC-DDB1-B1A4-B60ECE2E0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5FA9E-EC0E-C2AE-842E-4C11937CC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6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13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17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64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2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6C38-1492-79F7-8DF4-E91DE4AD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85A37-772A-68F2-97AB-BA54A54E8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AAF26-8533-C488-3C30-9C9EF8970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CAC15-CC7C-2F22-B81C-EDC0045F0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68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3A24-98A9-58D4-F29B-5DFF5605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FF4DB-EACD-4AD8-6BFB-48CFA55A9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52660-F957-4B15-77C6-365129145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D66E7-2CCB-1339-669B-BD39F03CE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91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BA80-1D95-D310-B1EF-7A1D1BA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979BF-E7F0-1F86-3848-0A94B20BC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8D213-DFD6-713A-C372-CD48776F8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5C9C4-A08C-CCA5-90E3-AAFC85423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72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59F4-FA10-C528-AB97-C915502E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1EF38-DCC0-9118-207A-F7F9435A3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5D0D8-1EE2-6130-3CF2-B9C6B6384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F9B4-A6FF-1BA0-DED4-691C3AE7C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95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74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5523-92D5-24C7-D8E0-9E68625E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06B0D-F88A-9C19-CCEF-93FD2CD2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361F2-3DC4-8678-9F5D-FF1DB1F8E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347FD-75EE-5DDB-D07C-9F01EDD88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24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09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4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B404-566C-5291-D31A-2D56D5FB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8F6AC-D80E-E601-0DE0-2E63F04CB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ECE46-F5FD-EFF2-059F-2F87CD83C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ACBDC-317B-B704-F96C-44199BAB6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63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0D53-35C6-99BB-75C1-C8E7B96D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4105A-B632-EF5E-097C-1F7C4C1A6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62CA1-2913-7A16-38C2-B41198E35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D2074-866F-7447-E339-E4239817C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37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A97F-3EE9-7A7F-62A6-6AD43EB3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41AF4-0F7E-A139-DB08-956AE124B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222F-FA37-2CC8-B7CD-D6BBA57CC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75825-03DF-AC1A-433A-85359B410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1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34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98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9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D039-8995-E085-0909-532F3723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5F9D0-66E5-AC6A-EA69-348E76FB9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BDC68-F684-4537-8C3A-3FF733D16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05008-B04F-76F1-DB29-CC8FA5892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53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C607-F68E-1D3E-00BE-FFA71AE6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8DE9F-8C94-9F0E-3E99-CAFC5915F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F50BF-CD5B-FFE5-7FBD-0294990FB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CA475-DA62-ED92-4063-8C002FCFB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95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12B0-04C9-7D94-E13B-C56B3FAB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24EC0-B82D-B7C5-4815-69FEA9DC1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8ACFF-4CDE-E78A-E490-BDF82A27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6910-FEF3-236C-5446-241864F0F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7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3792-F7E3-0B7B-544D-248B099C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63695-E47E-CD0F-FE84-72246B6B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B8F51-4656-FBC9-A855-6D578FE1D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755F0-D92F-9DD5-A4C5-B2E1ADF0C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0ECCD-4B8F-4EE5-BE50-712F75256EC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9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071C-726E-ECBA-78F8-772A4CD67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5760E-F482-87B9-9B5D-F76B11063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D0D4-CC9A-2AA1-8196-4352ECC9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E9A0-ED47-850A-E5B1-B0452ADB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4BE9E-602A-0D80-C9D0-ADC5AA29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B318-8378-5AC9-C617-D63A6F37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2CB9E-5BA9-2C78-0330-03F63BBF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0C99D-0E39-234C-6A13-B2845FEB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033A5-4D26-1775-DB0D-CAA10C7A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03E1-E3AA-AA05-8607-EF5FBCF7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AE50-460A-3C13-DBBF-E066E85A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30A1D-14D5-6482-129F-24B42032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7EC3B-2FA6-E96C-E304-9BDD6771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4062-0D81-6AE6-3F52-EC980266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A9486-BBAE-454D-42BE-D41FB1C3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5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DECC-910B-E9CC-83D0-81813EC7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7287-F670-28B7-1D37-A778F9D0D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5BE0-0177-C04B-47B3-D1DEF2A3F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FBE93-E426-5EEF-74DC-FB121DFB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7AC4D-A3FB-2BBD-5911-539F39BD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3F16C-B37E-E16A-A7E2-9DE69618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5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1AB0-12E7-2CD1-3A22-360FC84C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BA705-058F-7D3B-E61B-02AB7E5C8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BD22B-4B18-059C-A210-F47CB503E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A1B51-23D0-D5A4-CE18-0B3088215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9223E-5486-158D-F060-F63997519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E897C-B52C-AF93-76EC-3C6E7C6B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797E1-5607-3D45-CF95-003C5B78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478683-A6CA-519D-81EA-0B51F7C1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6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318-F5FD-C561-C138-FCF477A5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32734-853F-10A1-A0C3-BDBD85B5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C62FC-D603-0834-C368-F2CAF4ED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4DA73-CE25-6F48-3AE5-FFD61BA7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5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B62AF-4919-B7CF-6020-97E5BDF3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E3AA2-78DF-67C9-DE06-21C3CE39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BA221-D73A-B074-B7E3-726AABDB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0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1B4E-8CE7-067A-3B62-7A44C3EE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88EEB-F893-88D5-7ED1-6BB25C127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3163-81FE-5132-CF4D-3DB8E3806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F0C99-26FD-AFC3-CB2F-C4B71F34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A73C8-696A-6240-384B-5D650F31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19482-D9EA-3019-A132-09D00365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2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7A23-C68A-3D33-E340-821DD343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2CCA8-9E26-0CBF-DCF9-F89FFFE30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BA8F4-F3E5-7DAB-3566-05591FE82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3E3B1-DA89-4038-08DA-54E7A3C3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5594C-C6DA-3576-96D2-FA3CE6D0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DB78C-62CA-D0C9-6936-5C9ACD59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8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3379-A8B9-F9DA-412A-62C94AAA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21AC7-0098-1907-84AA-0FAC52B39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AC2E4-DB8E-082C-7B09-6FCB48AE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C1682-B907-0657-3EE5-1CB8934C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6597-1753-79CD-468E-5990D537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75F6E-3C25-6EE8-4969-0C2A723C2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EF853-76AD-A186-C33E-BBCBB969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F7938-6D87-BFF3-B0D9-8339368E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B535F-DD66-FE55-F04D-EFDF097AC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7BAAF-0506-97B9-B3EB-A6F70F06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4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ADC70-C88D-9F4F-D5C0-5A084586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50160-B0E5-6497-C1A5-D11B325EB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B57BF-8EE1-B390-0BEC-873A6B44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B438A-0540-429B-AD51-9D0B4B6BD3F3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30DF-3ECE-D3F4-DEB2-CB465D784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C6DC-F7A4-2E1F-AA98-FC21FE098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5E710-FE94-402B-8814-B29A2900B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8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11.png"/><Relationship Id="rId7" Type="http://schemas.microsoft.com/office/2007/relationships/hdphoto" Target="../media/hdphoto3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2.wdp"/><Relationship Id="rId4" Type="http://schemas.openxmlformats.org/officeDocument/2006/relationships/image" Target="../media/image43.png"/><Relationship Id="rId9" Type="http://schemas.openxmlformats.org/officeDocument/2006/relationships/image" Target="../media/image46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microsoft.com/office/2007/relationships/hdphoto" Target="../media/hdphoto4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09861-918E-1506-57EA-5001BBD81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87" y="3179416"/>
            <a:ext cx="8332160" cy="2029796"/>
          </a:xfrm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7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A Hybrid Decomposition-Based </a:t>
            </a:r>
            <a:br>
              <a:rPr lang="en-US" sz="27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</a:br>
            <a:r>
              <a:rPr lang="en-US" sz="27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Deep Learning Approach </a:t>
            </a:r>
            <a:br>
              <a:rPr lang="en-US" sz="27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</a:br>
            <a:r>
              <a:rPr lang="en-US" sz="27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for Enhanced Wind Power Forecasting</a:t>
            </a:r>
            <a:endParaRPr lang="en-US" sz="2700" b="1" dirty="0">
              <a:solidFill>
                <a:srgbClr val="1D4999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F192E03-67EF-FB7E-14EF-48372928A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487" y="5633637"/>
            <a:ext cx="8122479" cy="1013533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Abdulrahman </a:t>
            </a:r>
            <a:r>
              <a:rPr lang="en-US" sz="1600" b="1" i="0" u="none" strike="noStrike" baseline="0" dirty="0" err="1">
                <a:solidFill>
                  <a:srgbClr val="1D4999"/>
                </a:solidFill>
                <a:latin typeface="Century Gothic" panose="020B0502020202020204" pitchFamily="34" charset="0"/>
              </a:rPr>
              <a:t>Almansoori</a:t>
            </a:r>
            <a:r>
              <a:rPr lang="en-US" sz="1600" b="0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, MSc Student in Machine Learning</a:t>
            </a:r>
          </a:p>
          <a:p>
            <a:pPr algn="l">
              <a:lnSpc>
                <a:spcPct val="100000"/>
              </a:lnSpc>
            </a:pPr>
            <a:r>
              <a:rPr lang="en-US" sz="1600" b="0" i="0" u="sng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Supervisor:</a:t>
            </a:r>
            <a:r>
              <a:rPr lang="en-US" sz="1600" b="0" i="0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Professor Fakhri </a:t>
            </a:r>
            <a:r>
              <a:rPr lang="en-US" sz="1600" b="1" i="0" u="none" strike="noStrike" baseline="0" dirty="0" err="1">
                <a:solidFill>
                  <a:srgbClr val="1D4999"/>
                </a:solidFill>
                <a:latin typeface="Century Gothic" panose="020B0502020202020204" pitchFamily="34" charset="0"/>
              </a:rPr>
              <a:t>Karray</a:t>
            </a:r>
            <a:r>
              <a:rPr lang="en-US" sz="1600" b="0" i="0" u="none" strike="noStrike" baseline="0" dirty="0">
                <a:solidFill>
                  <a:srgbClr val="1D4999"/>
                </a:solidFill>
                <a:latin typeface="Century Gothic" panose="020B0502020202020204" pitchFamily="34" charset="0"/>
              </a:rPr>
              <a:t>, Professor of Machine Learning</a:t>
            </a:r>
          </a:p>
        </p:txBody>
      </p:sp>
      <p:pic>
        <p:nvPicPr>
          <p:cNvPr id="4" name="Picture 2" descr="MBZUAI Partners With IIE to Recruit International Students Studying  Artificial Intelligence | IIE - The Power of International Education">
            <a:extLst>
              <a:ext uri="{FF2B5EF4-FFF2-40B4-BE49-F238E27FC236}">
                <a16:creationId xmlns:a16="http://schemas.microsoft.com/office/drawing/2014/main" id="{00579110-BB2E-6E70-25A1-FC2655168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5077" y="473014"/>
            <a:ext cx="3278607" cy="67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oup of windmills with bushes and clouds&#10;&#10;AI-generated content may be incorrect.">
            <a:extLst>
              <a:ext uri="{FF2B5EF4-FFF2-40B4-BE49-F238E27FC236}">
                <a16:creationId xmlns:a16="http://schemas.microsoft.com/office/drawing/2014/main" id="{DE2FB7F1-D25F-9227-A7E4-396C182E9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648" y="3724937"/>
            <a:ext cx="2828869" cy="282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8BB92E0-A569-3BB1-22FC-2DAD8D12C158}"/>
              </a:ext>
            </a:extLst>
          </p:cNvPr>
          <p:cNvSpPr txBox="1">
            <a:spLocks/>
          </p:cNvSpPr>
          <p:nvPr/>
        </p:nvSpPr>
        <p:spPr>
          <a:xfrm>
            <a:off x="0" y="2766218"/>
            <a:ext cx="12191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435368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8950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B2C0272-9453-BB8B-BDB2-63C8F99957F0}"/>
              </a:ext>
            </a:extLst>
          </p:cNvPr>
          <p:cNvGrpSpPr/>
          <p:nvPr/>
        </p:nvGrpSpPr>
        <p:grpSpPr>
          <a:xfrm>
            <a:off x="4053546" y="1585797"/>
            <a:ext cx="4084904" cy="1234152"/>
            <a:chOff x="3962880" y="593441"/>
            <a:chExt cx="4084904" cy="1234152"/>
          </a:xfrm>
        </p:grpSpPr>
        <p:pic>
          <p:nvPicPr>
            <p:cNvPr id="11" name="Picture 1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C792CBD-75BE-1317-647E-319BD37D6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3632" y="593441"/>
              <a:ext cx="1234152" cy="1234152"/>
            </a:xfrm>
            <a:prstGeom prst="rect">
              <a:avLst/>
            </a:prstGeom>
          </p:spPr>
        </p:pic>
        <p:pic>
          <p:nvPicPr>
            <p:cNvPr id="13" name="Picture 1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F8F95D6-08E1-A264-554B-049E0262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880" y="593441"/>
              <a:ext cx="1234152" cy="1234152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74FE785-D6CD-9445-F811-755D881DC066}"/>
                </a:ext>
              </a:extLst>
            </p:cNvPr>
            <p:cNvCxnSpPr>
              <a:cxnSpLocks/>
            </p:cNvCxnSpPr>
            <p:nvPr/>
          </p:nvCxnSpPr>
          <p:spPr>
            <a:xfrm>
              <a:off x="5497975" y="1210517"/>
              <a:ext cx="101471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809F048-9203-5862-26BA-11533E2C851E}"/>
              </a:ext>
            </a:extLst>
          </p:cNvPr>
          <p:cNvSpPr txBox="1"/>
          <p:nvPr/>
        </p:nvSpPr>
        <p:spPr>
          <a:xfrm>
            <a:off x="3403434" y="2988547"/>
            <a:ext cx="5385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Rapid industrialization and population growth have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increased global energy demand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6E7F1A-2716-4C53-8C53-6935C282381C}"/>
              </a:ext>
            </a:extLst>
          </p:cNvPr>
          <p:cNvGrpSpPr/>
          <p:nvPr/>
        </p:nvGrpSpPr>
        <p:grpSpPr>
          <a:xfrm>
            <a:off x="7742838" y="4132924"/>
            <a:ext cx="3021730" cy="1239639"/>
            <a:chOff x="7742838" y="3808460"/>
            <a:chExt cx="3021730" cy="1239639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D5A89C1-A392-9854-878C-C25944128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0416" y="3813947"/>
              <a:ext cx="1234152" cy="1234152"/>
            </a:xfrm>
            <a:prstGeom prst="rect">
              <a:avLst/>
            </a:prstGeom>
          </p:spPr>
        </p:pic>
        <p:pic>
          <p:nvPicPr>
            <p:cNvPr id="26" name="Picture 2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1CA08DD-C73D-8D1C-F884-DBAD177CF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2838" y="3808460"/>
              <a:ext cx="1234152" cy="1234152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5083A9-6450-338D-EBD1-65BA744C603D}"/>
              </a:ext>
            </a:extLst>
          </p:cNvPr>
          <p:cNvGrpSpPr/>
          <p:nvPr/>
        </p:nvGrpSpPr>
        <p:grpSpPr>
          <a:xfrm>
            <a:off x="944636" y="4132924"/>
            <a:ext cx="4101722" cy="1242382"/>
            <a:chOff x="944636" y="3808460"/>
            <a:chExt cx="4101722" cy="1242382"/>
          </a:xfrm>
        </p:grpSpPr>
        <p:pic>
          <p:nvPicPr>
            <p:cNvPr id="18" name="Picture 1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72A44CC-3491-3BCF-39F0-4C9308414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8257" y="3808460"/>
              <a:ext cx="741175" cy="741175"/>
            </a:xfrm>
            <a:prstGeom prst="rect">
              <a:avLst/>
            </a:prstGeom>
          </p:spPr>
        </p:pic>
        <p:pic>
          <p:nvPicPr>
            <p:cNvPr id="19" name="Picture 1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A5FD6C8-450D-0B66-A3A1-8B9AE3971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432" y="4306923"/>
              <a:ext cx="741175" cy="741175"/>
            </a:xfrm>
            <a:prstGeom prst="rect">
              <a:avLst/>
            </a:prstGeom>
          </p:spPr>
        </p:pic>
        <p:pic>
          <p:nvPicPr>
            <p:cNvPr id="20" name="Picture 1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17C5BCE-4986-8750-1F5F-C0C878F5C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636" y="3808461"/>
              <a:ext cx="622562" cy="622562"/>
            </a:xfrm>
            <a:prstGeom prst="rect">
              <a:avLst/>
            </a:prstGeom>
          </p:spPr>
        </p:pic>
        <p:pic>
          <p:nvPicPr>
            <p:cNvPr id="24" name="Picture 2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F2487A7-7DC5-44F6-FAAF-6753116DD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6720" y="3811204"/>
              <a:ext cx="1239638" cy="1239638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D77816-1638-AFBB-CC9D-1179807A06E0}"/>
                </a:ext>
              </a:extLst>
            </p:cNvPr>
            <p:cNvCxnSpPr>
              <a:cxnSpLocks/>
            </p:cNvCxnSpPr>
            <p:nvPr/>
          </p:nvCxnSpPr>
          <p:spPr>
            <a:xfrm>
              <a:off x="3011347" y="4431023"/>
              <a:ext cx="67133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B60441D-AD1D-6B1C-4324-AAEC05EE66ED}"/>
              </a:ext>
            </a:extLst>
          </p:cNvPr>
          <p:cNvSpPr txBox="1"/>
          <p:nvPr/>
        </p:nvSpPr>
        <p:spPr>
          <a:xfrm>
            <a:off x="474015" y="5549328"/>
            <a:ext cx="4710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Nonrenewable energy abuse leads to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environmental degradation </a:t>
            </a:r>
            <a:r>
              <a:rPr lang="en-VN" dirty="0">
                <a:latin typeface="Century Gothic" panose="020B0502020202020204" pitchFamily="34" charset="0"/>
              </a:rPr>
              <a:t>and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unsustainable</a:t>
            </a:r>
            <a:r>
              <a:rPr lang="en-US" dirty="0">
                <a:latin typeface="Century Gothic" panose="020B0502020202020204" pitchFamily="34" charset="0"/>
              </a:rPr>
              <a:t> for future generations.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B12022-0C53-6745-9D02-B1C70C1D226E}"/>
              </a:ext>
            </a:extLst>
          </p:cNvPr>
          <p:cNvSpPr txBox="1"/>
          <p:nvPr/>
        </p:nvSpPr>
        <p:spPr>
          <a:xfrm>
            <a:off x="6095999" y="55493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Shift toward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renewable energy </a:t>
            </a:r>
            <a:r>
              <a:rPr lang="en-US" dirty="0">
                <a:latin typeface="Century Gothic" panose="020B0502020202020204" pitchFamily="34" charset="0"/>
              </a:rPr>
              <a:t>is crucial to</a:t>
            </a:r>
          </a:p>
          <a:p>
            <a:pPr algn="ctr"/>
            <a:r>
              <a:rPr lang="en-US" dirty="0">
                <a:latin typeface="Century Gothic" panose="020B0502020202020204" pitchFamily="34" charset="0"/>
              </a:rPr>
              <a:t>achieve sustainability and climate goals.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0E0713CF-E7D1-C215-F4F7-14D776943288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Main Problems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5C57588-6FD5-8815-19E1-FF40CB3793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79409"/>
            <a:ext cx="12191993" cy="1132257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6DE6A836-09DD-4C1B-BAA7-C38E15988CF3}"/>
              </a:ext>
            </a:extLst>
          </p:cNvPr>
          <p:cNvSpPr txBox="1">
            <a:spLocks/>
          </p:cNvSpPr>
          <p:nvPr/>
        </p:nvSpPr>
        <p:spPr>
          <a:xfrm>
            <a:off x="1" y="-7604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Main Problem</a:t>
            </a:r>
          </a:p>
        </p:txBody>
      </p:sp>
    </p:spTree>
    <p:extLst>
      <p:ext uri="{BB962C8B-B14F-4D97-AF65-F5344CB8AC3E}">
        <p14:creationId xmlns:p14="http://schemas.microsoft.com/office/powerpoint/2010/main" val="220253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group of windmills with bushes and clouds&#10;&#10;AI-generated content may be incorrect.">
            <a:extLst>
              <a:ext uri="{FF2B5EF4-FFF2-40B4-BE49-F238E27FC236}">
                <a16:creationId xmlns:a16="http://schemas.microsoft.com/office/drawing/2014/main" id="{26791246-05EF-C26A-9BCC-0EE101F48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91" y="1827046"/>
            <a:ext cx="2828869" cy="282886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9F7C3DC-6D11-3C04-DA8A-42E52A6C88BB}"/>
              </a:ext>
            </a:extLst>
          </p:cNvPr>
          <p:cNvSpPr txBox="1">
            <a:spLocks/>
          </p:cNvSpPr>
          <p:nvPr/>
        </p:nvSpPr>
        <p:spPr>
          <a:xfrm>
            <a:off x="6091713" y="1827046"/>
            <a:ext cx="3513498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Wind Energy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1E23-5E4C-C32C-514A-DF3D67B6406A}"/>
              </a:ext>
            </a:extLst>
          </p:cNvPr>
          <p:cNvSpPr txBox="1"/>
          <p:nvPr/>
        </p:nvSpPr>
        <p:spPr>
          <a:xfrm>
            <a:off x="6091713" y="3041196"/>
            <a:ext cx="56469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Among renewables, wind energy stands out due to its </a:t>
            </a:r>
            <a:r>
              <a:rPr lang="en-US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widespread availability </a:t>
            </a:r>
            <a:r>
              <a:rPr lang="en-US" dirty="0">
                <a:latin typeface="Century Gothic" panose="020B0502020202020204" pitchFamily="34" charset="0"/>
              </a:rPr>
              <a:t>and </a:t>
            </a:r>
            <a:r>
              <a:rPr lang="en-US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low emissions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Wind energy is a promising, clean alternative but </a:t>
            </a:r>
            <a:r>
              <a:rPr lang="en-US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highly variable </a:t>
            </a:r>
            <a:r>
              <a:rPr lang="en-US" dirty="0">
                <a:latin typeface="Century Gothic" panose="020B0502020202020204" pitchFamily="34" charset="0"/>
              </a:rPr>
              <a:t>and</a:t>
            </a:r>
            <a:r>
              <a:rPr lang="en-US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 difficult to predict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V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7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57FE-4297-4E35-8FAE-ACA4C22C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D619C6-6589-6848-EEA8-B94AD49DBB8F}"/>
              </a:ext>
            </a:extLst>
          </p:cNvPr>
          <p:cNvCxnSpPr>
            <a:cxnSpLocks/>
          </p:cNvCxnSpPr>
          <p:nvPr/>
        </p:nvCxnSpPr>
        <p:spPr>
          <a:xfrm>
            <a:off x="2729066" y="1745885"/>
            <a:ext cx="0" cy="1833183"/>
          </a:xfrm>
          <a:prstGeom prst="line">
            <a:avLst/>
          </a:prstGeom>
          <a:ln w="12700">
            <a:solidFill>
              <a:srgbClr val="4353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782DC88-7B8E-527E-0B4E-DACEA8A0B96E}"/>
              </a:ext>
            </a:extLst>
          </p:cNvPr>
          <p:cNvSpPr txBox="1"/>
          <p:nvPr/>
        </p:nvSpPr>
        <p:spPr>
          <a:xfrm>
            <a:off x="2899965" y="1560497"/>
            <a:ext cx="8882717" cy="207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Physical Models (e.g., NWP): </a:t>
            </a:r>
            <a:r>
              <a:rPr lang="en-US" dirty="0">
                <a:latin typeface="Century Gothic" panose="020B0502020202020204" pitchFamily="34" charset="0"/>
              </a:rPr>
              <a:t>Depend heavily on meteorological data, and lacking historical trend analysis.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Statistical Models (e.g., ARIMA): </a:t>
            </a:r>
            <a:r>
              <a:rPr lang="en-US" dirty="0">
                <a:latin typeface="Century Gothic" panose="020B0502020202020204" pitchFamily="34" charset="0"/>
              </a:rPr>
              <a:t>Good for linear patterns but struggle with nonlinear, volatile wind dynamics.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EF1513-DB8A-6631-7BCB-A37B5290A6C4}"/>
              </a:ext>
            </a:extLst>
          </p:cNvPr>
          <p:cNvSpPr txBox="1"/>
          <p:nvPr/>
        </p:nvSpPr>
        <p:spPr>
          <a:xfrm>
            <a:off x="1999263" y="6373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90077-F993-3A76-F7FB-9E9EC9454B12}"/>
              </a:ext>
            </a:extLst>
          </p:cNvPr>
          <p:cNvSpPr txBox="1"/>
          <p:nvPr/>
        </p:nvSpPr>
        <p:spPr>
          <a:xfrm>
            <a:off x="496778" y="2960600"/>
            <a:ext cx="207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C6899"/>
                </a:solidFill>
                <a:latin typeface="Century Gothic" panose="020B0502020202020204" pitchFamily="34" charset="0"/>
              </a:rPr>
              <a:t>Conventional </a:t>
            </a:r>
          </a:p>
          <a:p>
            <a:pPr algn="ctr"/>
            <a:r>
              <a:rPr lang="en-US" dirty="0">
                <a:solidFill>
                  <a:srgbClr val="3C6899"/>
                </a:solidFill>
                <a:latin typeface="Century Gothic" panose="020B0502020202020204" pitchFamily="34" charset="0"/>
              </a:rPr>
              <a:t>Methods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656744-7A36-FEA5-3683-EBE15C343E8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43" y="1745885"/>
            <a:ext cx="1100000" cy="1100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1280D8-D391-F7BE-5D62-AA182EAE30D4}"/>
              </a:ext>
            </a:extLst>
          </p:cNvPr>
          <p:cNvCxnSpPr>
            <a:cxnSpLocks/>
          </p:cNvCxnSpPr>
          <p:nvPr/>
        </p:nvCxnSpPr>
        <p:spPr>
          <a:xfrm>
            <a:off x="2729066" y="4321214"/>
            <a:ext cx="0" cy="1833183"/>
          </a:xfrm>
          <a:prstGeom prst="line">
            <a:avLst/>
          </a:prstGeom>
          <a:ln w="12700">
            <a:solidFill>
              <a:srgbClr val="4353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2FFC21-8D2B-5D86-B8C8-F3D01CC14FF5}"/>
              </a:ext>
            </a:extLst>
          </p:cNvPr>
          <p:cNvSpPr txBox="1"/>
          <p:nvPr/>
        </p:nvSpPr>
        <p:spPr>
          <a:xfrm>
            <a:off x="2899964" y="4135826"/>
            <a:ext cx="8765155" cy="248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Traditional ML (e.g., SVM, KNN, RF): </a:t>
            </a:r>
            <a:r>
              <a:rPr lang="en-US" dirty="0">
                <a:latin typeface="Century Gothic" panose="020B0502020202020204" pitchFamily="34" charset="0"/>
              </a:rPr>
              <a:t>Performed well at high wind speeds, but accuracy dropped at low speeds and depend heavily on feature selection.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Deep Learning (e.g., RNN, LSTM): </a:t>
            </a:r>
            <a:r>
              <a:rPr lang="en-US" dirty="0">
                <a:latin typeface="Century Gothic" panose="020B0502020202020204" pitchFamily="34" charset="0"/>
              </a:rPr>
              <a:t>Handle complex patterns, but performance degrades with noise and non-stationarity.</a:t>
            </a: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581EB-A5B6-5231-CE2C-A5DAAABDC73D}"/>
              </a:ext>
            </a:extLst>
          </p:cNvPr>
          <p:cNvSpPr txBox="1"/>
          <p:nvPr/>
        </p:nvSpPr>
        <p:spPr>
          <a:xfrm>
            <a:off x="404952" y="5533912"/>
            <a:ext cx="2254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C6899"/>
                </a:solidFill>
                <a:latin typeface="Century Gothic" panose="020B0502020202020204" pitchFamily="34" charset="0"/>
              </a:rPr>
              <a:t>Machine Learning Methods</a:t>
            </a: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1759109-0860-1C9B-545A-D6BF9DFB6B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01" y="4321214"/>
            <a:ext cx="1098342" cy="10983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729E5C-FF46-8094-3B13-FC80CE17F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ECAE0EE-CE92-902E-589F-5250A2F7B9BC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Current Solution</a:t>
            </a:r>
          </a:p>
        </p:txBody>
      </p:sp>
    </p:spTree>
    <p:extLst>
      <p:ext uri="{BB962C8B-B14F-4D97-AF65-F5344CB8AC3E}">
        <p14:creationId xmlns:p14="http://schemas.microsoft.com/office/powerpoint/2010/main" val="140171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4EEA-4A6A-1FA2-C33B-C24FE641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D7F215-3FE5-583E-0100-ACA410448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C3C17E1E-C539-B7B3-D91D-669F297FC53F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Current Solution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9830CA-CDA7-3C44-92D0-55761531A46A}"/>
              </a:ext>
            </a:extLst>
          </p:cNvPr>
          <p:cNvCxnSpPr>
            <a:cxnSpLocks/>
          </p:cNvCxnSpPr>
          <p:nvPr/>
        </p:nvCxnSpPr>
        <p:spPr>
          <a:xfrm>
            <a:off x="2729066" y="1895588"/>
            <a:ext cx="0" cy="4130586"/>
          </a:xfrm>
          <a:prstGeom prst="line">
            <a:avLst/>
          </a:prstGeom>
          <a:ln w="12700">
            <a:solidFill>
              <a:srgbClr val="4353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0D2B10-87A7-5E34-3387-90543974E501}"/>
              </a:ext>
            </a:extLst>
          </p:cNvPr>
          <p:cNvSpPr txBox="1"/>
          <p:nvPr/>
        </p:nvSpPr>
        <p:spPr>
          <a:xfrm>
            <a:off x="2899966" y="1712897"/>
            <a:ext cx="8882711" cy="484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Decomposition techniques break the signal into </a:t>
            </a:r>
            <a:r>
              <a:rPr lang="en-US" b="1" dirty="0">
                <a:latin typeface="Century Gothic" panose="020B0502020202020204" pitchFamily="34" charset="0"/>
              </a:rPr>
              <a:t>simpler, more stable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sub-series</a:t>
            </a:r>
            <a:r>
              <a:rPr lang="en-US" dirty="0">
                <a:latin typeface="Century Gothic" panose="020B0502020202020204" pitchFamily="34" charset="0"/>
              </a:rPr>
              <a:t>, improving deep learning performance.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Wavelet Decomposition (WD): </a:t>
            </a:r>
            <a:r>
              <a:rPr lang="en-US" dirty="0">
                <a:latin typeface="Century Gothic" panose="020B0502020202020204" pitchFamily="34" charset="0"/>
              </a:rPr>
              <a:t>Uses </a:t>
            </a:r>
            <a:r>
              <a:rPr lang="en-US" u="sng" dirty="0">
                <a:latin typeface="Century Gothic" panose="020B0502020202020204" pitchFamily="34" charset="0"/>
              </a:rPr>
              <a:t>a series of high-pass and low-pass filters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to separate a signal into frequency components at multiple resolutions.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       Can captures both </a:t>
            </a:r>
            <a:r>
              <a:rPr lang="en-US" b="1" dirty="0">
                <a:latin typeface="Century Gothic" panose="020B0502020202020204" pitchFamily="34" charset="0"/>
              </a:rPr>
              <a:t>high- and low-frequency patterns</a:t>
            </a:r>
            <a:r>
              <a:rPr lang="en-US" dirty="0">
                <a:latin typeface="Century Gothic" panose="020B0502020202020204" pitchFamily="34" charset="0"/>
              </a:rPr>
              <a:t>, but </a:t>
            </a:r>
            <a:r>
              <a:rPr lang="en-US" b="1" dirty="0">
                <a:latin typeface="Century Gothic" panose="020B0502020202020204" pitchFamily="34" charset="0"/>
              </a:rPr>
              <a:t>non-adaptive.</a:t>
            </a:r>
            <a:endParaRPr lang="en-US" sz="1800" b="1" dirty="0"/>
          </a:p>
          <a:p>
            <a:pPr lvl="1"/>
            <a:endParaRPr lang="en-US" sz="1800" b="1" dirty="0"/>
          </a:p>
          <a:p>
            <a:pPr>
              <a:lnSpc>
                <a:spcPct val="150000"/>
              </a:lnSpc>
            </a:pPr>
            <a:r>
              <a:rPr lang="fr-FR" b="1" dirty="0" err="1">
                <a:solidFill>
                  <a:srgbClr val="E78A40"/>
                </a:solidFill>
                <a:latin typeface="Century Gothic" panose="020B0502020202020204" pitchFamily="34" charset="0"/>
              </a:rPr>
              <a:t>Empirical</a:t>
            </a:r>
            <a:r>
              <a:rPr lang="fr-FR" b="1" dirty="0">
                <a:solidFill>
                  <a:srgbClr val="E78A40"/>
                </a:solidFill>
                <a:latin typeface="Century Gothic" panose="020B0502020202020204" pitchFamily="34" charset="0"/>
              </a:rPr>
              <a:t> Mode </a:t>
            </a:r>
            <a:r>
              <a:rPr lang="fr-FR" b="1" dirty="0" err="1">
                <a:solidFill>
                  <a:srgbClr val="E78A40"/>
                </a:solidFill>
                <a:latin typeface="Century Gothic" panose="020B0502020202020204" pitchFamily="34" charset="0"/>
              </a:rPr>
              <a:t>Decomposition</a:t>
            </a:r>
            <a:r>
              <a:rPr lang="fr-FR" b="1" dirty="0">
                <a:solidFill>
                  <a:srgbClr val="E78A40"/>
                </a:solidFill>
                <a:latin typeface="Century Gothic" panose="020B0502020202020204" pitchFamily="34" charset="0"/>
              </a:rPr>
              <a:t> (EMD): </a:t>
            </a:r>
            <a:r>
              <a:rPr lang="en-US" dirty="0">
                <a:latin typeface="Century Gothic" panose="020B0502020202020204" pitchFamily="34" charset="0"/>
              </a:rPr>
              <a:t>Decomposes signals into </a:t>
            </a:r>
            <a:r>
              <a:rPr lang="en-US" u="sng" dirty="0">
                <a:latin typeface="Century Gothic" panose="020B0502020202020204" pitchFamily="34" charset="0"/>
              </a:rPr>
              <a:t>Intrinsic </a:t>
            </a:r>
          </a:p>
          <a:p>
            <a:pPr>
              <a:lnSpc>
                <a:spcPct val="150000"/>
              </a:lnSpc>
            </a:pPr>
            <a:r>
              <a:rPr lang="en-US" u="sng" dirty="0">
                <a:latin typeface="Century Gothic" panose="020B0502020202020204" pitchFamily="34" charset="0"/>
              </a:rPr>
              <a:t>Mode Functions (IMFs)</a:t>
            </a:r>
            <a:r>
              <a:rPr lang="en-US" dirty="0">
                <a:latin typeface="Century Gothic" panose="020B0502020202020204" pitchFamily="34" charset="0"/>
              </a:rPr>
              <a:t> to handle nonlinear and non-stationary data.</a:t>
            </a:r>
            <a:endParaRPr lang="fr-FR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       </a:t>
            </a:r>
            <a:r>
              <a:rPr lang="en-US" b="1" dirty="0">
                <a:latin typeface="Century Gothic" panose="020B0502020202020204" pitchFamily="34" charset="0"/>
              </a:rPr>
              <a:t>Adaptive</a:t>
            </a:r>
            <a:r>
              <a:rPr lang="en-US" dirty="0">
                <a:latin typeface="Century Gothic" panose="020B0502020202020204" pitchFamily="34" charset="0"/>
              </a:rPr>
              <a:t> to local signal features but signals of different scales can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overlap across IMFs (</a:t>
            </a:r>
            <a:r>
              <a:rPr lang="en-US" b="1" dirty="0">
                <a:latin typeface="Century Gothic" panose="020B0502020202020204" pitchFamily="34" charset="0"/>
              </a:rPr>
              <a:t>mode mixing</a:t>
            </a:r>
            <a:r>
              <a:rPr lang="en-US" dirty="0">
                <a:latin typeface="Century Gothic" panose="020B050202020202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41EBE1-78ED-841A-BFA3-174E523D7992}"/>
              </a:ext>
            </a:extLst>
          </p:cNvPr>
          <p:cNvGrpSpPr/>
          <p:nvPr/>
        </p:nvGrpSpPr>
        <p:grpSpPr>
          <a:xfrm>
            <a:off x="496778" y="2941034"/>
            <a:ext cx="2070931" cy="2039694"/>
            <a:chOff x="496778" y="1892891"/>
            <a:chExt cx="2070931" cy="20396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C7D9A7-4799-6986-5474-5453DBDA33A3}"/>
                </a:ext>
              </a:extLst>
            </p:cNvPr>
            <p:cNvSpPr txBox="1"/>
            <p:nvPr/>
          </p:nvSpPr>
          <p:spPr>
            <a:xfrm>
              <a:off x="496778" y="3286254"/>
              <a:ext cx="20709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3C6899"/>
                  </a:solidFill>
                  <a:latin typeface="Century Gothic" panose="020B0502020202020204" pitchFamily="34" charset="0"/>
                </a:rPr>
                <a:t>Decomposition Techniques</a:t>
              </a:r>
            </a:p>
          </p:txBody>
        </p:sp>
        <p:pic>
          <p:nvPicPr>
            <p:cNvPr id="2" name="Picture 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948DF7C-3110-1BF0-B69B-925DADB29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57" y="1892891"/>
              <a:ext cx="1251337" cy="1251337"/>
            </a:xfrm>
            <a:prstGeom prst="rect">
              <a:avLst/>
            </a:prstGeom>
          </p:spPr>
        </p:pic>
      </p:grpSp>
      <p:sp>
        <p:nvSpPr>
          <p:cNvPr id="4" name="Right Arrow 3">
            <a:extLst>
              <a:ext uri="{FF2B5EF4-FFF2-40B4-BE49-F238E27FC236}">
                <a16:creationId xmlns:a16="http://schemas.microsoft.com/office/drawing/2014/main" id="{CA0B2021-E516-DE8C-515B-A46B3226A294}"/>
              </a:ext>
            </a:extLst>
          </p:cNvPr>
          <p:cNvSpPr/>
          <p:nvPr/>
        </p:nvSpPr>
        <p:spPr>
          <a:xfrm>
            <a:off x="2994409" y="3895753"/>
            <a:ext cx="329763" cy="170822"/>
          </a:xfrm>
          <a:prstGeom prst="rightArrow">
            <a:avLst>
              <a:gd name="adj1" fmla="val 45177"/>
              <a:gd name="adj2" fmla="val 74020"/>
            </a:avLst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588FBA8-F2A1-3073-8221-2F4E7EFA7C5E}"/>
              </a:ext>
            </a:extLst>
          </p:cNvPr>
          <p:cNvSpPr/>
          <p:nvPr/>
        </p:nvSpPr>
        <p:spPr>
          <a:xfrm>
            <a:off x="2994409" y="5406081"/>
            <a:ext cx="329764" cy="170822"/>
          </a:xfrm>
          <a:prstGeom prst="rightArrow">
            <a:avLst>
              <a:gd name="adj1" fmla="val 49999"/>
              <a:gd name="adj2" fmla="val 74020"/>
            </a:avLst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3752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0A3E60C-8FF6-EFA5-ADD7-64CAC8EBD9DD}"/>
              </a:ext>
            </a:extLst>
          </p:cNvPr>
          <p:cNvSpPr txBox="1">
            <a:spLocks/>
          </p:cNvSpPr>
          <p:nvPr/>
        </p:nvSpPr>
        <p:spPr>
          <a:xfrm>
            <a:off x="1" y="-18685"/>
            <a:ext cx="8326128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  Research Gaps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1B22C3-70AA-21E1-3947-3225D10A4F6E}"/>
              </a:ext>
            </a:extLst>
          </p:cNvPr>
          <p:cNvSpPr txBox="1"/>
          <p:nvPr/>
        </p:nvSpPr>
        <p:spPr>
          <a:xfrm>
            <a:off x="888490" y="895715"/>
            <a:ext cx="160332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9900" b="1" dirty="0">
                <a:solidFill>
                  <a:srgbClr val="DAE8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2617BC-A14E-A35A-A048-02289E9C80ED}"/>
              </a:ext>
            </a:extLst>
          </p:cNvPr>
          <p:cNvSpPr txBox="1"/>
          <p:nvPr/>
        </p:nvSpPr>
        <p:spPr>
          <a:xfrm>
            <a:off x="2256777" y="2201235"/>
            <a:ext cx="2898488" cy="128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DL models struggle with raw wind signals without </a:t>
            </a:r>
            <a:r>
              <a:rPr lang="en-US" b="1" dirty="0">
                <a:solidFill>
                  <a:srgbClr val="3C6899"/>
                </a:solidFill>
                <a:latin typeface="Century Gothic" panose="020B0502020202020204" pitchFamily="34" charset="0"/>
              </a:rPr>
              <a:t>robust preprocessing</a:t>
            </a:r>
            <a:r>
              <a:rPr lang="en-US" dirty="0">
                <a:solidFill>
                  <a:srgbClr val="3C6899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81E0CE-C6FC-3BE0-4EA3-9F3B9E79BCEE}"/>
              </a:ext>
            </a:extLst>
          </p:cNvPr>
          <p:cNvSpPr txBox="1"/>
          <p:nvPr/>
        </p:nvSpPr>
        <p:spPr>
          <a:xfrm>
            <a:off x="3695526" y="3664116"/>
            <a:ext cx="160332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9900" b="1" dirty="0">
                <a:solidFill>
                  <a:srgbClr val="D2DC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FE39AE-F222-C3F6-E402-5E0CF388D6D8}"/>
              </a:ext>
            </a:extLst>
          </p:cNvPr>
          <p:cNvSpPr txBox="1"/>
          <p:nvPr/>
        </p:nvSpPr>
        <p:spPr>
          <a:xfrm>
            <a:off x="5385461" y="4976856"/>
            <a:ext cx="5168064" cy="128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Limited studies have been conducted on combining the </a:t>
            </a:r>
            <a:r>
              <a:rPr lang="en-US" b="1" dirty="0">
                <a:solidFill>
                  <a:srgbClr val="3C6899"/>
                </a:solidFill>
                <a:latin typeface="Century Gothic" panose="020B0502020202020204" pitchFamily="34" charset="0"/>
              </a:rPr>
              <a:t>advanced decomposition and denoising techniques </a:t>
            </a:r>
            <a:r>
              <a:rPr lang="en-US" dirty="0">
                <a:latin typeface="Century Gothic" panose="020B0502020202020204" pitchFamily="34" charset="0"/>
              </a:rPr>
              <a:t>with DL models.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CD4ED7-929D-9B15-1431-D576E8586F99}"/>
              </a:ext>
            </a:extLst>
          </p:cNvPr>
          <p:cNvSpPr txBox="1"/>
          <p:nvPr/>
        </p:nvSpPr>
        <p:spPr>
          <a:xfrm>
            <a:off x="5983816" y="1679379"/>
            <a:ext cx="160332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9900" b="1" dirty="0">
                <a:solidFill>
                  <a:srgbClr val="D2DF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4A687D-143A-D07F-C6EB-B7BC0F24EB51}"/>
              </a:ext>
            </a:extLst>
          </p:cNvPr>
          <p:cNvSpPr txBox="1"/>
          <p:nvPr/>
        </p:nvSpPr>
        <p:spPr>
          <a:xfrm>
            <a:off x="7544990" y="2968770"/>
            <a:ext cx="3684732" cy="1286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Few studies assess how </a:t>
            </a:r>
            <a:r>
              <a:rPr lang="en-US" b="1" dirty="0">
                <a:solidFill>
                  <a:srgbClr val="3C6899"/>
                </a:solidFill>
                <a:latin typeface="Century Gothic" panose="020B0502020202020204" pitchFamily="34" charset="0"/>
              </a:rPr>
              <a:t>input lengths &amp; forecasting horizons </a:t>
            </a:r>
            <a:r>
              <a:rPr lang="en-US" dirty="0">
                <a:latin typeface="Century Gothic" panose="020B0502020202020204" pitchFamily="34" charset="0"/>
              </a:rPr>
              <a:t>affect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98246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7DE3F-D4C8-0BF1-232F-A2B50C0C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20CFDBA1-DDE8-2EC3-DDF7-5FA95FB446A0}"/>
              </a:ext>
            </a:extLst>
          </p:cNvPr>
          <p:cNvSpPr txBox="1">
            <a:spLocks/>
          </p:cNvSpPr>
          <p:nvPr/>
        </p:nvSpPr>
        <p:spPr>
          <a:xfrm>
            <a:off x="0" y="2766218"/>
            <a:ext cx="12191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rgbClr val="435368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239621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9129-CDF8-63DE-DCDE-06B5944E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A473A6-FBED-6821-B626-23FF4C872D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20293" r="46386"/>
          <a:stretch/>
        </p:blipFill>
        <p:spPr>
          <a:xfrm>
            <a:off x="972254" y="1783106"/>
            <a:ext cx="2804504" cy="3620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6855A3-53B1-D46C-234D-1A0F4F0972AD}"/>
              </a:ext>
            </a:extLst>
          </p:cNvPr>
          <p:cNvSpPr txBox="1">
            <a:spLocks/>
          </p:cNvSpPr>
          <p:nvPr/>
        </p:nvSpPr>
        <p:spPr>
          <a:xfrm>
            <a:off x="445771" y="309509"/>
            <a:ext cx="1098422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To deal with the research gaps in the field of wind energy prediction, we propose the integration of </a:t>
            </a:r>
            <a:r>
              <a:rPr lang="en-US" sz="24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three main components known as CEEMDAN, EWT, GRU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BAD74-2B5C-90AD-D037-BD1BE81B593C}"/>
              </a:ext>
            </a:extLst>
          </p:cNvPr>
          <p:cNvPicPr>
            <a:picLocks/>
          </p:cNvPicPr>
          <p:nvPr/>
        </p:nvPicPr>
        <p:blipFill>
          <a:blip r:embed="rId5"/>
          <a:srcRect l="48212" r="18467"/>
          <a:stretch/>
        </p:blipFill>
        <p:spPr>
          <a:xfrm>
            <a:off x="4656000" y="1783080"/>
            <a:ext cx="2804504" cy="3615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993A19-8C8D-57B9-72EA-AA08D52ABE2E}"/>
              </a:ext>
            </a:extLst>
          </p:cNvPr>
          <p:cNvPicPr>
            <a:picLocks/>
          </p:cNvPicPr>
          <p:nvPr/>
        </p:nvPicPr>
        <p:blipFill>
          <a:blip r:embed="rId5"/>
          <a:srcRect l="66642"/>
          <a:stretch/>
        </p:blipFill>
        <p:spPr>
          <a:xfrm>
            <a:off x="8339746" y="1783080"/>
            <a:ext cx="2804504" cy="3615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0C83DB-3A07-FC78-11CA-500E01B2711C}"/>
              </a:ext>
            </a:extLst>
          </p:cNvPr>
          <p:cNvSpPr txBox="1"/>
          <p:nvPr/>
        </p:nvSpPr>
        <p:spPr>
          <a:xfrm>
            <a:off x="972254" y="2539951"/>
            <a:ext cx="2804504" cy="2065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CEEMDAN</a:t>
            </a:r>
            <a:r>
              <a:rPr lang="en-US" sz="1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445268"/>
                </a:solidFill>
                <a:latin typeface="Century Gothic" panose="020B0502020202020204" pitchFamily="34" charset="0"/>
              </a:rPr>
              <a:t>Complete Ensemble Empirical Mode Decomposition with Adaptive Noise</a:t>
            </a:r>
            <a:endParaRPr lang="en-VN" sz="1600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EB5914-0A47-7FC7-CCC6-07824F2E57A9}"/>
              </a:ext>
            </a:extLst>
          </p:cNvPr>
          <p:cNvSpPr txBox="1"/>
          <p:nvPr/>
        </p:nvSpPr>
        <p:spPr>
          <a:xfrm>
            <a:off x="4656000" y="2536520"/>
            <a:ext cx="2804504" cy="141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</a:t>
            </a: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i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</a:t>
            </a:r>
            <a:endParaRPr lang="en-VN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D1D830-C512-169B-5475-9EFB025D3789}"/>
              </a:ext>
            </a:extLst>
          </p:cNvPr>
          <p:cNvSpPr txBox="1"/>
          <p:nvPr/>
        </p:nvSpPr>
        <p:spPr>
          <a:xfrm>
            <a:off x="8339746" y="2534333"/>
            <a:ext cx="2804504" cy="100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GRU</a:t>
            </a: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i="1" dirty="0">
                <a:solidFill>
                  <a:srgbClr val="445268"/>
                </a:solidFill>
                <a:latin typeface="Century Gothic" panose="020B0502020202020204" pitchFamily="34" charset="0"/>
              </a:rPr>
              <a:t>Gated Recurrent Unit</a:t>
            </a:r>
            <a:endParaRPr lang="en-VN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87ECC-8128-DA79-1CF0-BDAEABC1DC4C}"/>
              </a:ext>
            </a:extLst>
          </p:cNvPr>
          <p:cNvSpPr txBox="1">
            <a:spLocks/>
          </p:cNvSpPr>
          <p:nvPr/>
        </p:nvSpPr>
        <p:spPr>
          <a:xfrm>
            <a:off x="445771" y="5703994"/>
            <a:ext cx="1098422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2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Each one of these modules is detailed next</a:t>
            </a:r>
            <a:r>
              <a:rPr lang="en-US" sz="22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, followed by experiments validating our proposed approach</a:t>
            </a:r>
            <a:endParaRPr lang="en-US" sz="2200" b="1" dirty="0">
              <a:solidFill>
                <a:schemeClr val="accent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0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1514E9EC-D50C-F0C3-FBA5-7CC43B290840}"/>
              </a:ext>
            </a:extLst>
          </p:cNvPr>
          <p:cNvSpPr txBox="1">
            <a:spLocks/>
          </p:cNvSpPr>
          <p:nvPr/>
        </p:nvSpPr>
        <p:spPr>
          <a:xfrm>
            <a:off x="491872" y="715311"/>
            <a:ext cx="7772400" cy="128587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CEEMDAN: Complete Ensemble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Empirical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Mode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Decomposition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with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Adaptive Noise</a:t>
            </a:r>
            <a:endParaRPr lang="en-US" sz="28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9427B2-E273-8E1F-6F7F-0972B5B7B503}"/>
              </a:ext>
            </a:extLst>
          </p:cNvPr>
          <p:cNvSpPr txBox="1"/>
          <p:nvPr/>
        </p:nvSpPr>
        <p:spPr>
          <a:xfrm>
            <a:off x="842518" y="2784783"/>
            <a:ext cx="10506963" cy="367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CEEMDAN is an advanced decomposition techniques that solve limitations of previous techniques.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It uses </a:t>
            </a:r>
            <a:r>
              <a:rPr lang="en-US" sz="1700" b="1" dirty="0">
                <a:latin typeface="Century Gothic" panose="020B0502020202020204" pitchFamily="34" charset="0"/>
              </a:rPr>
              <a:t>adaptive noise at each stage</a:t>
            </a:r>
            <a:r>
              <a:rPr lang="en-US" sz="1700" dirty="0">
                <a:latin typeface="Century Gothic" panose="020B0502020202020204" pitchFamily="34" charset="0"/>
              </a:rPr>
              <a:t> to eliminate mode mixing.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It produces </a:t>
            </a:r>
            <a:r>
              <a:rPr lang="en-US" sz="1700" b="1" dirty="0">
                <a:latin typeface="Century Gothic" panose="020B0502020202020204" pitchFamily="34" charset="0"/>
              </a:rPr>
              <a:t>cleaner, non-overlapping IMFs</a:t>
            </a:r>
            <a:r>
              <a:rPr lang="en-US" sz="17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Each IMF captures a </a:t>
            </a:r>
            <a:r>
              <a:rPr lang="en-US" sz="1700" b="1" dirty="0">
                <a:latin typeface="Century Gothic" panose="020B0502020202020204" pitchFamily="34" charset="0"/>
              </a:rPr>
              <a:t>distinct frequency</a:t>
            </a:r>
            <a:r>
              <a:rPr lang="en-US" sz="1700" dirty="0">
                <a:latin typeface="Century Gothic" panose="020B0502020202020204" pitchFamily="34" charset="0"/>
              </a:rPr>
              <a:t>, improving signal quality for forecasting.</a:t>
            </a:r>
          </a:p>
          <a:p>
            <a:pPr>
              <a:lnSpc>
                <a:spcPct val="200000"/>
              </a:lnSpc>
            </a:pPr>
            <a:r>
              <a:rPr lang="en-US" sz="1700" u="sng" dirty="0">
                <a:latin typeface="Century Gothic" panose="020B0502020202020204" pitchFamily="34" charset="0"/>
              </a:rPr>
              <a:t>Benefits of CEEMDAN</a:t>
            </a:r>
            <a:r>
              <a:rPr lang="en-US" sz="1700" dirty="0">
                <a:latin typeface="Century Gothic" panose="020B0502020202020204" pitchFamily="34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     Adaptive and noise-resistant decomposition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     Enhances model learning by providing cleaner features</a:t>
            </a: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6978D4C2-8D95-F3C9-5566-37334EC02545}"/>
              </a:ext>
            </a:extLst>
          </p:cNvPr>
          <p:cNvSpPr/>
          <p:nvPr/>
        </p:nvSpPr>
        <p:spPr>
          <a:xfrm rot="5400000">
            <a:off x="479429" y="3034205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2F92A84D-6945-CD3B-1C2A-1CE507DCFC66}"/>
              </a:ext>
            </a:extLst>
          </p:cNvPr>
          <p:cNvSpPr/>
          <p:nvPr/>
        </p:nvSpPr>
        <p:spPr>
          <a:xfrm rot="5400000">
            <a:off x="479429" y="3555998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5E91C06C-7BE3-4A50-735D-BDF8486A2E2D}"/>
              </a:ext>
            </a:extLst>
          </p:cNvPr>
          <p:cNvSpPr/>
          <p:nvPr/>
        </p:nvSpPr>
        <p:spPr>
          <a:xfrm rot="5400000">
            <a:off x="479428" y="4077791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27DC393E-D42C-31E7-E0E3-524A394A218F}"/>
              </a:ext>
            </a:extLst>
          </p:cNvPr>
          <p:cNvSpPr/>
          <p:nvPr/>
        </p:nvSpPr>
        <p:spPr>
          <a:xfrm rot="5400000">
            <a:off x="478982" y="4599584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A1DA5EAA-731A-82F1-9A6B-513655DD359B}"/>
              </a:ext>
            </a:extLst>
          </p:cNvPr>
          <p:cNvSpPr/>
          <p:nvPr/>
        </p:nvSpPr>
        <p:spPr>
          <a:xfrm rot="5400000">
            <a:off x="478981" y="5121377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27DFAF-CD16-05F1-ACFB-7D71100CF429}"/>
              </a:ext>
            </a:extLst>
          </p:cNvPr>
          <p:cNvCxnSpPr>
            <a:cxnSpLocks/>
          </p:cNvCxnSpPr>
          <p:nvPr/>
        </p:nvCxnSpPr>
        <p:spPr>
          <a:xfrm>
            <a:off x="937752" y="5635536"/>
            <a:ext cx="0" cy="7282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77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8DFA87-EC99-F5AB-8BA6-403A2D91D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32" y="2663273"/>
            <a:ext cx="11342967" cy="42640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1. Add noise to the original signal: </a:t>
            </a:r>
            <a:r>
              <a:rPr lang="en-US" sz="1800" dirty="0">
                <a:latin typeface="Century Gothic" panose="020B0502020202020204" pitchFamily="34" charset="0"/>
              </a:rPr>
              <a:t>Construct multiple realizations of the signal by adding different </a:t>
            </a:r>
            <a:br>
              <a:rPr lang="en-US" sz="1800" dirty="0">
                <a:latin typeface="Century Gothic" panose="020B0502020202020204" pitchFamily="34" charset="0"/>
              </a:rPr>
            </a:br>
            <a:r>
              <a:rPr lang="en-US" sz="1800" dirty="0">
                <a:latin typeface="Century Gothic" panose="020B0502020202020204" pitchFamily="34" charset="0"/>
              </a:rPr>
              <a:t>Gaussian white noise series: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2. Extract the first IMF: </a:t>
            </a:r>
            <a:r>
              <a:rPr lang="en-US" sz="1800" dirty="0">
                <a:latin typeface="Century Gothic" panose="020B0502020202020204" pitchFamily="34" charset="0"/>
              </a:rPr>
              <a:t>Apply EMD to each realization and compute the average of the first mode: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br>
              <a:rPr lang="en-US" sz="1800" b="1" dirty="0">
                <a:latin typeface="Century Gothic" panose="020B0502020202020204" pitchFamily="34" charset="0"/>
              </a:rPr>
            </a:b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3. Compute the first residual: </a:t>
            </a:r>
            <a:r>
              <a:rPr lang="en-US" sz="1800" dirty="0">
                <a:latin typeface="Century Gothic" panose="020B0502020202020204" pitchFamily="34" charset="0"/>
              </a:rPr>
              <a:t>Subtract the first IMF from the original signal: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06FE3-FF5E-B1E8-99F2-3B45D43B3492}"/>
                  </a:ext>
                </a:extLst>
              </p:cNvPr>
              <p:cNvSpPr txBox="1"/>
              <p:nvPr/>
            </p:nvSpPr>
            <p:spPr>
              <a:xfrm>
                <a:off x="3044992" y="3571641"/>
                <a:ext cx="6097904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06FE3-FF5E-B1E8-99F2-3B45D43B3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92" y="3571641"/>
                <a:ext cx="6097904" cy="403124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EABF18-7476-FBAD-2C4B-75D5123A4E5D}"/>
                  </a:ext>
                </a:extLst>
              </p:cNvPr>
              <p:cNvSpPr txBox="1"/>
              <p:nvPr/>
            </p:nvSpPr>
            <p:spPr>
              <a:xfrm>
                <a:off x="3044992" y="4795316"/>
                <a:ext cx="6097904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EABF18-7476-FBAD-2C4B-75D5123A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92" y="4795316"/>
                <a:ext cx="6097904" cy="659283"/>
              </a:xfrm>
              <a:prstGeom prst="rect">
                <a:avLst/>
              </a:prstGeom>
              <a:blipFill>
                <a:blip r:embed="rId4"/>
                <a:stretch>
                  <a:fillRect t="-141509" b="-2113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BFB8FC-AAA6-4999-813B-326308E8AA4A}"/>
                  </a:ext>
                </a:extLst>
              </p:cNvPr>
              <p:cNvSpPr txBox="1"/>
              <p:nvPr/>
            </p:nvSpPr>
            <p:spPr>
              <a:xfrm>
                <a:off x="3044992" y="6280985"/>
                <a:ext cx="6097904" cy="377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BFB8FC-AAA6-4999-813B-326308E8A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92" y="6280985"/>
                <a:ext cx="6097904" cy="3778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E8C4E58-A052-C444-5191-145DB51D8144}"/>
              </a:ext>
            </a:extLst>
          </p:cNvPr>
          <p:cNvSpPr txBox="1">
            <a:spLocks/>
          </p:cNvSpPr>
          <p:nvPr/>
        </p:nvSpPr>
        <p:spPr>
          <a:xfrm>
            <a:off x="491872" y="715311"/>
            <a:ext cx="7772400" cy="128587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CEEMDAN: Complete Ensemble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Empirical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Mode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Decomposition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with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Adaptive Noise</a:t>
            </a:r>
            <a:endParaRPr lang="en-US" sz="28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3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92F0F-CAE1-89E6-6D55-A96C9117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ED89-4B8C-B6A1-5B91-5519193C0FDF}"/>
              </a:ext>
            </a:extLst>
          </p:cNvPr>
          <p:cNvSpPr txBox="1">
            <a:spLocks/>
          </p:cNvSpPr>
          <p:nvPr/>
        </p:nvSpPr>
        <p:spPr>
          <a:xfrm>
            <a:off x="491872" y="715311"/>
            <a:ext cx="7772400" cy="128587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CEEMDAN: Complete Ensemble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Empirical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Mode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Decomposition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with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Adaptive Noise</a:t>
            </a:r>
            <a:endParaRPr lang="en-US" sz="28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CE1B9-7AF9-5244-2CE6-558A1066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72" y="2668426"/>
            <a:ext cx="11479734" cy="38001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4. Iteratively extract subsequent IMFs: </a:t>
            </a:r>
            <a:r>
              <a:rPr lang="en-US" sz="1800" dirty="0">
                <a:latin typeface="Century Gothic" panose="020B0502020202020204" pitchFamily="34" charset="0"/>
              </a:rPr>
              <a:t>For k≥2, add scaled adaptive noise to the residual &amp; apply EMD: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sz="1800" dirty="0">
                <a:latin typeface="Century Gothic" panose="020B0502020202020204" pitchFamily="34" charset="0"/>
              </a:rPr>
            </a:br>
            <a:br>
              <a:rPr lang="en-US" sz="1800" dirty="0">
                <a:latin typeface="Century Gothic" panose="020B0502020202020204" pitchFamily="34" charset="0"/>
              </a:rPr>
            </a:b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5. Update the residual:</a:t>
            </a:r>
            <a:endParaRPr lang="en-US" sz="1800" dirty="0">
              <a:solidFill>
                <a:srgbClr val="E78A40"/>
              </a:solidFill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6. Stop criterion: </a:t>
            </a:r>
            <a:r>
              <a:rPr lang="en-US" sz="1800" dirty="0">
                <a:latin typeface="Century Gothic" panose="020B0502020202020204" pitchFamily="34" charset="0"/>
              </a:rPr>
              <a:t>Repeat until residual becomes a monotonic function that EMD cannot decompose.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6B98D3-8D79-B7EB-B48B-607BE45D6083}"/>
                  </a:ext>
                </a:extLst>
              </p:cNvPr>
              <p:cNvSpPr txBox="1"/>
              <p:nvPr/>
            </p:nvSpPr>
            <p:spPr>
              <a:xfrm>
                <a:off x="3046895" y="3449068"/>
                <a:ext cx="6097904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𝐸𝑀𝐷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6B98D3-8D79-B7EB-B48B-607BE45D6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895" y="3449068"/>
                <a:ext cx="6097904" cy="659283"/>
              </a:xfrm>
              <a:prstGeom prst="rect">
                <a:avLst/>
              </a:prstGeom>
              <a:blipFill>
                <a:blip r:embed="rId3"/>
                <a:stretch>
                  <a:fillRect t="-141509" b="-2113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797C51-DED8-9582-91E2-DD3FF83145E1}"/>
                  </a:ext>
                </a:extLst>
              </p:cNvPr>
              <p:cNvSpPr txBox="1"/>
              <p:nvPr/>
            </p:nvSpPr>
            <p:spPr>
              <a:xfrm>
                <a:off x="3044992" y="4646139"/>
                <a:ext cx="6097904" cy="377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797C51-DED8-9582-91E2-DD3FF8314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92" y="4646139"/>
                <a:ext cx="6097904" cy="377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81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7710274C-E344-3AA1-DD99-2D061FFF61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72" y="2575972"/>
            <a:ext cx="7178101" cy="3794437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F37195-97D1-0107-8DAB-1CD6B27D64EA}"/>
              </a:ext>
            </a:extLst>
          </p:cNvPr>
          <p:cNvSpPr txBox="1"/>
          <p:nvPr/>
        </p:nvSpPr>
        <p:spPr>
          <a:xfrm>
            <a:off x="6815586" y="5673138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0" u="none" strike="noStrike" baseline="0" dirty="0">
                <a:latin typeface="Century Gothic" panose="020B0502020202020204" pitchFamily="34" charset="0"/>
              </a:rPr>
              <a:t>Wind Power Data in January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F3E1E2-49AD-6F6F-4B61-7C02C2D02F38}"/>
              </a:ext>
            </a:extLst>
          </p:cNvPr>
          <p:cNvSpPr txBox="1">
            <a:spLocks/>
          </p:cNvSpPr>
          <p:nvPr/>
        </p:nvSpPr>
        <p:spPr>
          <a:xfrm>
            <a:off x="491872" y="715311"/>
            <a:ext cx="7772400" cy="128587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CEEMDAN: Complete Ensemble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Empirical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Mode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Decomposition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fr-FR" sz="28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with</a:t>
            </a:r>
            <a:r>
              <a:rPr lang="fr-FR" sz="28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Adaptive Noise</a:t>
            </a:r>
            <a:endParaRPr lang="en-US" sz="28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4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8741D-3033-3403-BF2C-20D12197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8A84D-28A4-4C1D-B5C2-2C757EA907F0}"/>
              </a:ext>
            </a:extLst>
          </p:cNvPr>
          <p:cNvSpPr txBox="1"/>
          <p:nvPr/>
        </p:nvSpPr>
        <p:spPr>
          <a:xfrm>
            <a:off x="7437395" y="5538068"/>
            <a:ext cx="4499232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0" u="none" strike="noStrike" baseline="0" dirty="0">
                <a:latin typeface="Century Gothic" panose="020B0502020202020204" pitchFamily="34" charset="0"/>
              </a:rPr>
              <a:t>Decomposed IMFs of Wind Power </a:t>
            </a:r>
          </a:p>
          <a:p>
            <a:pPr>
              <a:lnSpc>
                <a:spcPct val="150000"/>
              </a:lnSpc>
            </a:pPr>
            <a:r>
              <a:rPr lang="en-US" sz="2000" i="0" u="none" strike="noStrike" baseline="0" dirty="0">
                <a:latin typeface="Century Gothic" panose="020B0502020202020204" pitchFamily="34" charset="0"/>
              </a:rPr>
              <a:t>Data for January.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28905523-53E6-289E-1924-6AB63E700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" y="100040"/>
            <a:ext cx="6393617" cy="639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6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DD34C7-329A-313C-F0D0-EED2B5BB4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F9B51-9DF8-B985-EF28-E8D5D299E458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80319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EWT: </a:t>
            </a:r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 for High-Frequency Refinement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C67D6F-6A35-82B4-38A0-03C2503C0725}"/>
              </a:ext>
            </a:extLst>
          </p:cNvPr>
          <p:cNvSpPr txBox="1"/>
          <p:nvPr/>
        </p:nvSpPr>
        <p:spPr>
          <a:xfrm>
            <a:off x="896872" y="1591529"/>
            <a:ext cx="11121081" cy="4436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The first IMF from CEEMDAN often contains high-frequency noise.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=&gt;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sz="1800" dirty="0">
                <a:latin typeface="Century Gothic" panose="020B0502020202020204" pitchFamily="34" charset="0"/>
              </a:rPr>
              <a:t>Use </a:t>
            </a:r>
            <a:r>
              <a:rPr lang="en-US" dirty="0">
                <a:latin typeface="Century Gothic" panose="020B0502020202020204" pitchFamily="34" charset="0"/>
              </a:rPr>
              <a:t>EWT to </a:t>
            </a:r>
            <a:r>
              <a:rPr lang="en-US" sz="1800" b="1" dirty="0">
                <a:latin typeface="Century Gothic" panose="020B0502020202020204" pitchFamily="34" charset="0"/>
              </a:rPr>
              <a:t>refine the first IMF</a:t>
            </a:r>
            <a:r>
              <a:rPr lang="en-US" sz="1800" dirty="0">
                <a:latin typeface="Century Gothic" panose="020B0502020202020204" pitchFamily="34" charset="0"/>
              </a:rPr>
              <a:t>, preserving important features while suppressing noise.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EWT is an </a:t>
            </a:r>
            <a:r>
              <a:rPr lang="en-US" b="1" dirty="0">
                <a:latin typeface="Century Gothic" panose="020B0502020202020204" pitchFamily="34" charset="0"/>
              </a:rPr>
              <a:t>adaptive signal decomposition </a:t>
            </a:r>
            <a:r>
              <a:rPr lang="en-US" dirty="0">
                <a:latin typeface="Century Gothic" panose="020B0502020202020204" pitchFamily="34" charset="0"/>
              </a:rPr>
              <a:t>method.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It constructs custom filters </a:t>
            </a:r>
            <a:r>
              <a:rPr lang="en-US" b="1" dirty="0">
                <a:latin typeface="Century Gothic" panose="020B0502020202020204" pitchFamily="34" charset="0"/>
              </a:rPr>
              <a:t>based on the Fourier spectrum </a:t>
            </a:r>
            <a:r>
              <a:rPr lang="en-US" dirty="0">
                <a:latin typeface="Century Gothic" panose="020B0502020202020204" pitchFamily="34" charset="0"/>
              </a:rPr>
              <a:t>of the signal.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It is well-suited for </a:t>
            </a:r>
            <a:r>
              <a:rPr lang="en-US" b="1" dirty="0">
                <a:latin typeface="Century Gothic" panose="020B0502020202020204" pitchFamily="34" charset="0"/>
              </a:rPr>
              <a:t>nonstationary time series </a:t>
            </a:r>
            <a:r>
              <a:rPr lang="en-US" dirty="0">
                <a:latin typeface="Century Gothic" panose="020B0502020202020204" pitchFamily="34" charset="0"/>
              </a:rPr>
              <a:t>with varying frequency characteristics.</a:t>
            </a:r>
          </a:p>
          <a:p>
            <a:pPr>
              <a:lnSpc>
                <a:spcPct val="200000"/>
              </a:lnSpc>
            </a:pPr>
            <a:r>
              <a:rPr lang="en-US" u="sng" dirty="0">
                <a:latin typeface="Century Gothic" panose="020B0502020202020204" pitchFamily="34" charset="0"/>
              </a:rPr>
              <a:t>Benefits of EWT</a:t>
            </a:r>
            <a:r>
              <a:rPr lang="en-US" dirty="0">
                <a:latin typeface="Century Gothic" panose="020B0502020202020204" pitchFamily="34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     Enhances signal clarity before forecasting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     Improves feature extraction from noisy components.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02B49161-9E37-0046-AAF2-F6836F42B00B}"/>
              </a:ext>
            </a:extLst>
          </p:cNvPr>
          <p:cNvSpPr/>
          <p:nvPr/>
        </p:nvSpPr>
        <p:spPr>
          <a:xfrm rot="5400000">
            <a:off x="533098" y="1872539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B240975A-9C70-C41F-A476-44810BED8A6B}"/>
              </a:ext>
            </a:extLst>
          </p:cNvPr>
          <p:cNvSpPr/>
          <p:nvPr/>
        </p:nvSpPr>
        <p:spPr>
          <a:xfrm rot="5400000">
            <a:off x="532649" y="4635321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A6D935CA-1D9D-5597-DFAA-99EA61F0D342}"/>
              </a:ext>
            </a:extLst>
          </p:cNvPr>
          <p:cNvSpPr/>
          <p:nvPr/>
        </p:nvSpPr>
        <p:spPr>
          <a:xfrm rot="5400000">
            <a:off x="532650" y="2990100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EB191596-9E26-D993-E04A-E6229AFFCC8B}"/>
              </a:ext>
            </a:extLst>
          </p:cNvPr>
          <p:cNvSpPr/>
          <p:nvPr/>
        </p:nvSpPr>
        <p:spPr>
          <a:xfrm rot="5400000">
            <a:off x="532650" y="3538507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3CCE1E69-1E8E-642F-B059-7E047ED64D6A}"/>
              </a:ext>
            </a:extLst>
          </p:cNvPr>
          <p:cNvSpPr/>
          <p:nvPr/>
        </p:nvSpPr>
        <p:spPr>
          <a:xfrm rot="5400000">
            <a:off x="532650" y="4086914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1ABEEB-C960-C162-2C9E-677161638B4E}"/>
              </a:ext>
            </a:extLst>
          </p:cNvPr>
          <p:cNvCxnSpPr>
            <a:cxnSpLocks/>
          </p:cNvCxnSpPr>
          <p:nvPr/>
        </p:nvCxnSpPr>
        <p:spPr>
          <a:xfrm>
            <a:off x="1013953" y="5155831"/>
            <a:ext cx="0" cy="7282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88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31466-1382-B77B-F2D8-985EF2B1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5FF018-E91A-9168-14E5-736BCC63B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4CB70C3-F139-4DA3-25DD-F63381E2141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80319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EWT: </a:t>
            </a:r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 for High-Frequency Refinement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C5493-C0AF-3119-B5E4-502B600B0C64}"/>
              </a:ext>
            </a:extLst>
          </p:cNvPr>
          <p:cNvSpPr txBox="1"/>
          <p:nvPr/>
        </p:nvSpPr>
        <p:spPr>
          <a:xfrm>
            <a:off x="450376" y="1359059"/>
            <a:ext cx="11273051" cy="2532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1. Compute the Fourier Transform (FT): </a:t>
            </a:r>
            <a:r>
              <a:rPr lang="en-US" sz="1800" dirty="0">
                <a:latin typeface="Century Gothic" panose="020B0502020202020204" pitchFamily="34" charset="0"/>
              </a:rPr>
              <a:t>Transform the signal into the frequency domain using the FT:</a:t>
            </a:r>
          </a:p>
          <a:p>
            <a:pPr>
              <a:lnSpc>
                <a:spcPct val="150000"/>
              </a:lnSpc>
            </a:pPr>
            <a:br>
              <a:rPr lang="en-US" sz="1800" dirty="0">
                <a:latin typeface="Century Gothic" panose="020B0502020202020204" pitchFamily="34" charset="0"/>
              </a:rPr>
            </a:br>
            <a:br>
              <a:rPr lang="en-US" sz="1800" dirty="0">
                <a:latin typeface="Century Gothic" panose="020B0502020202020204" pitchFamily="34" charset="0"/>
              </a:rPr>
            </a:b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2. Identify Frequency Boundaries: </a:t>
            </a:r>
            <a:r>
              <a:rPr lang="en-US" sz="1800" dirty="0">
                <a:latin typeface="Century Gothic" panose="020B0502020202020204" pitchFamily="34" charset="0"/>
              </a:rPr>
              <a:t>Detect the local maxima in the Fourier spectrum and define boundaries that partition the frequency domain: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166262-81C5-3A59-1E43-D07131B2317E}"/>
                  </a:ext>
                </a:extLst>
              </p:cNvPr>
              <p:cNvSpPr txBox="1"/>
              <p:nvPr/>
            </p:nvSpPr>
            <p:spPr>
              <a:xfrm>
                <a:off x="3047044" y="2079955"/>
                <a:ext cx="6097904" cy="689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166262-81C5-3A59-1E43-D07131B23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4" y="2079955"/>
                <a:ext cx="6097904" cy="689932"/>
              </a:xfrm>
              <a:prstGeom prst="rect">
                <a:avLst/>
              </a:prstGeom>
              <a:blipFill>
                <a:blip r:embed="rId4"/>
                <a:stretch>
                  <a:fillRect t="-158182" b="-24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90612A-9BBD-9C24-2430-071807F3CA6B}"/>
                  </a:ext>
                </a:extLst>
              </p:cNvPr>
              <p:cNvSpPr txBox="1"/>
              <p:nvPr/>
            </p:nvSpPr>
            <p:spPr>
              <a:xfrm>
                <a:off x="3047044" y="4315726"/>
                <a:ext cx="6097904" cy="593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90612A-9BBD-9C24-2430-071807F3C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4" y="4315726"/>
                <a:ext cx="6097904" cy="593689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88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1563-4F17-306A-18D4-CC7E963D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E8462B-EBD4-3157-B397-71675F10E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034CA-6C5B-1A30-4113-D0F7C30B57EB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80319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EWT: </a:t>
            </a:r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 for High-Frequency Refinement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864A2-57E4-D45B-7D44-A66C31A53B71}"/>
              </a:ext>
            </a:extLst>
          </p:cNvPr>
          <p:cNvSpPr txBox="1"/>
          <p:nvPr/>
        </p:nvSpPr>
        <p:spPr>
          <a:xfrm>
            <a:off x="450376" y="1359059"/>
            <a:ext cx="11505063" cy="2948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3.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Construct adaptive wavelet filters: </a:t>
            </a:r>
            <a:r>
              <a:rPr lang="en-US" dirty="0">
                <a:latin typeface="Century Gothic" panose="020B0502020202020204" pitchFamily="34" charset="0"/>
              </a:rPr>
              <a:t>Define the empirical wavelet functions based on the segmented Fourier spectrum.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Scaling function </a:t>
            </a:r>
            <a:r>
              <a:rPr lang="en-US" dirty="0">
                <a:latin typeface="Century Gothic" panose="020B0502020202020204" pitchFamily="34" charset="0"/>
              </a:rPr>
              <a:t>(Low-pass filter):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Wavelet function </a:t>
            </a:r>
            <a:r>
              <a:rPr lang="en-US" dirty="0">
                <a:latin typeface="Century Gothic" panose="020B0502020202020204" pitchFamily="34" charset="0"/>
              </a:rPr>
              <a:t>(Band-pass filter)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0401E-97B9-24EF-6187-CAE826E88DA8}"/>
              </a:ext>
            </a:extLst>
          </p:cNvPr>
          <p:cNvSpPr/>
          <p:nvPr/>
        </p:nvSpPr>
        <p:spPr>
          <a:xfrm>
            <a:off x="9744502" y="3292064"/>
            <a:ext cx="696036" cy="638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B970ED-7AAE-8064-A3A2-4B3A3A710CEC}"/>
              </a:ext>
            </a:extLst>
          </p:cNvPr>
          <p:cNvGrpSpPr/>
          <p:nvPr/>
        </p:nvGrpSpPr>
        <p:grpSpPr>
          <a:xfrm>
            <a:off x="2770521" y="2612419"/>
            <a:ext cx="6864771" cy="1340880"/>
            <a:chOff x="3212275" y="3524534"/>
            <a:chExt cx="6864771" cy="1340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EA4800-625A-A5A6-23A5-61B42AB12138}"/>
                    </a:ext>
                  </a:extLst>
                </p:cNvPr>
                <p:cNvSpPr txBox="1"/>
                <p:nvPr/>
              </p:nvSpPr>
              <p:spPr>
                <a:xfrm>
                  <a:off x="3212275" y="3524534"/>
                  <a:ext cx="6864771" cy="1340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latin typeface="Century Gothic" panose="020B0502020202020204" pitchFamily="34" charset="0"/>
                    </a:rPr>
                    <a:t> =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1,   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1−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</m:d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𝛾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dirty="0">
                      <a:latin typeface="Century Gothic" panose="020B0502020202020204" pitchFamily="34" charset="0"/>
                    </a:rPr>
                    <a:t>,    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EA4800-625A-A5A6-23A5-61B42AB121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275" y="3524534"/>
                  <a:ext cx="6864771" cy="1340880"/>
                </a:xfrm>
                <a:prstGeom prst="rect">
                  <a:avLst/>
                </a:prstGeom>
                <a:blipFill>
                  <a:blip r:embed="rId4"/>
                  <a:stretch>
                    <a:fillRect l="-185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FA4F68-D069-54DC-B738-9D44E4425CAA}"/>
                    </a:ext>
                  </a:extLst>
                </p:cNvPr>
                <p:cNvSpPr txBox="1"/>
                <p:nvPr/>
              </p:nvSpPr>
              <p:spPr>
                <a:xfrm>
                  <a:off x="6987558" y="3586245"/>
                  <a:ext cx="16755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FA4F68-D069-54DC-B738-9D44E4425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7558" y="3586245"/>
                  <a:ext cx="1675587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34783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7B86CC-0F4B-6966-1587-BCFC102936A5}"/>
                    </a:ext>
                  </a:extLst>
                </p:cNvPr>
                <p:cNvSpPr txBox="1"/>
                <p:nvPr/>
              </p:nvSpPr>
              <p:spPr>
                <a:xfrm>
                  <a:off x="6987558" y="4521085"/>
                  <a:ext cx="1043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therwise</m:t>
                        </m:r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7B86CC-0F4B-6966-1587-BCFC10293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7558" y="4521085"/>
                  <a:ext cx="104355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410" r="-4819" b="-9091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C35F3C-0ABD-25CF-BEFC-A6244866F47D}"/>
              </a:ext>
            </a:extLst>
          </p:cNvPr>
          <p:cNvGrpSpPr/>
          <p:nvPr/>
        </p:nvGrpSpPr>
        <p:grpSpPr>
          <a:xfrm>
            <a:off x="3188344" y="4355468"/>
            <a:ext cx="7125046" cy="1902637"/>
            <a:chOff x="5349325" y="4944534"/>
            <a:chExt cx="7125046" cy="1902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0367E1E-56CA-6124-0144-F048D179C897}"/>
                    </a:ext>
                  </a:extLst>
                </p:cNvPr>
                <p:cNvSpPr txBox="1"/>
                <p:nvPr/>
              </p:nvSpPr>
              <p:spPr>
                <a:xfrm>
                  <a:off x="5349325" y="4944534"/>
                  <a:ext cx="3340594" cy="19026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V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VN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V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d>
                                                      <m:dPr>
                                                        <m:begChr m:val="|"/>
                                                        <m:endChr m:val="|"/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𝛾</m:t>
                                                        </m:r>
                                                      </m:e>
                                                    </m:d>
                                                    <m:sSub>
                                                      <m:sSub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𝛾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noBar"/>
                                    <m:ctrlPr>
                                      <a:rPr lang="en-V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d>
                                                      <m:dPr>
                                                        <m:begChr m:val="|"/>
                                                        <m:endChr m:val="|"/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1−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𝛾</m:t>
                                                        </m:r>
                                                      </m:e>
                                                    </m:d>
                                                    <m:sSub>
                                                      <m:sSub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𝛾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0367E1E-56CA-6124-0144-F048D179C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325" y="4944534"/>
                  <a:ext cx="3340594" cy="1902637"/>
                </a:xfrm>
                <a:prstGeom prst="rect">
                  <a:avLst/>
                </a:prstGeom>
                <a:blipFill>
                  <a:blip r:embed="rId7"/>
                  <a:stretch>
                    <a:fillRect b="-662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5266B3D-8A64-3099-B60E-2336586CD6DB}"/>
                    </a:ext>
                  </a:extLst>
                </p:cNvPr>
                <p:cNvSpPr txBox="1"/>
                <p:nvPr/>
              </p:nvSpPr>
              <p:spPr>
                <a:xfrm>
                  <a:off x="9036635" y="4989472"/>
                  <a:ext cx="320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5266B3D-8A64-3099-B60E-2336586CD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635" y="4989472"/>
                  <a:ext cx="320908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362" b="-34783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48BB564-9448-D9E6-EB9D-13521BD50884}"/>
                    </a:ext>
                  </a:extLst>
                </p:cNvPr>
                <p:cNvSpPr txBox="1"/>
                <p:nvPr/>
              </p:nvSpPr>
              <p:spPr>
                <a:xfrm>
                  <a:off x="9036635" y="6501218"/>
                  <a:ext cx="1043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therwise</m:t>
                        </m:r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48BB564-9448-D9E6-EB9D-13521BD50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635" y="6501218"/>
                  <a:ext cx="104355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410" r="-4819" b="-8696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AAF1D9A-0777-A14C-51B6-696BFD0864EB}"/>
                    </a:ext>
                  </a:extLst>
                </p:cNvPr>
                <p:cNvSpPr txBox="1"/>
                <p:nvPr/>
              </p:nvSpPr>
              <p:spPr>
                <a:xfrm>
                  <a:off x="9036635" y="5465350"/>
                  <a:ext cx="3437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AAF1D9A-0777-A14C-51B6-696BFD086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635" y="5465350"/>
                  <a:ext cx="343773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214" t="-4545" b="-3636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2D84B55-8942-0CB5-E5F4-34A2FE2D2CFE}"/>
                    </a:ext>
                  </a:extLst>
                </p:cNvPr>
                <p:cNvSpPr txBox="1"/>
                <p:nvPr/>
              </p:nvSpPr>
              <p:spPr>
                <a:xfrm>
                  <a:off x="9036635" y="5978426"/>
                  <a:ext cx="29804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2D84B55-8942-0CB5-E5F4-34A2FE2D2C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6635" y="5978426"/>
                  <a:ext cx="298043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553" t="-4348" b="-34783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17207-245D-D706-23B6-F3F32C7690F3}"/>
                  </a:ext>
                </a:extLst>
              </p:cNvPr>
              <p:cNvSpPr txBox="1"/>
              <p:nvPr/>
            </p:nvSpPr>
            <p:spPr>
              <a:xfrm>
                <a:off x="2146300" y="5097279"/>
                <a:ext cx="6096000" cy="380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entury Gothic" panose="020B0502020202020204" pitchFamily="34" charset="0"/>
                  </a:rPr>
                  <a:t> = </a:t>
                </a:r>
                <a:endParaRPr lang="en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017207-245D-D706-23B6-F3F32C769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300" y="5097279"/>
                <a:ext cx="6096000" cy="380938"/>
              </a:xfrm>
              <a:prstGeom prst="rect">
                <a:avLst/>
              </a:prstGeom>
              <a:blipFill>
                <a:blip r:embed="rId12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80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9B42-DA18-1B2D-B33A-D216F01B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EDA212-32FB-50A1-B06D-58F09D905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FE956D-B1E4-8166-63F4-2DEE82D178D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80319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EWT: </a:t>
            </a:r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 for High-Frequency Refinement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05BE8-72FF-68A9-D193-0DFC3FE7EEFE}"/>
              </a:ext>
            </a:extLst>
          </p:cNvPr>
          <p:cNvSpPr txBox="1"/>
          <p:nvPr/>
        </p:nvSpPr>
        <p:spPr>
          <a:xfrm>
            <a:off x="225184" y="1359059"/>
            <a:ext cx="11741624" cy="461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4. Perform the EWT: </a:t>
            </a:r>
            <a:r>
              <a:rPr lang="en-US" dirty="0">
                <a:latin typeface="Century Gothic" panose="020B0502020202020204" pitchFamily="34" charset="0"/>
              </a:rPr>
              <a:t>Once the wavelet filters are constructed, apply them to extract different frequency components. The wavelet coefficients are obtained by convolving the signal with the wavelet functions:</a:t>
            </a:r>
            <a:br>
              <a:rPr lang="en-US" dirty="0">
                <a:latin typeface="Century Gothic" panose="020B0502020202020204" pitchFamily="34" charset="0"/>
              </a:rPr>
            </a:br>
            <a:br>
              <a:rPr lang="en-US" dirty="0">
                <a:latin typeface="Century Gothic" panose="020B0502020202020204" pitchFamily="34" charset="0"/>
              </a:rPr>
            </a:br>
            <a:br>
              <a:rPr lang="en-US" dirty="0">
                <a:latin typeface="Century Gothic" panose="020B050202020202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Similarly, the approximation coefficients using the scaling function are:</a:t>
            </a:r>
            <a:br>
              <a:rPr lang="en-US" dirty="0">
                <a:latin typeface="Century Gothic" panose="020B0502020202020204" pitchFamily="34" charset="0"/>
              </a:rPr>
            </a:br>
            <a:br>
              <a:rPr lang="en-US" dirty="0">
                <a:latin typeface="Century Gothic" panose="020B0502020202020204" pitchFamily="34" charset="0"/>
              </a:rPr>
            </a:br>
            <a:br>
              <a:rPr lang="en-US" dirty="0">
                <a:latin typeface="Century Gothic" panose="020B0502020202020204" pitchFamily="34" charset="0"/>
              </a:rPr>
            </a:b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5. Reconstruct the signal: </a:t>
            </a:r>
            <a:r>
              <a:rPr lang="en-US" dirty="0">
                <a:latin typeface="Century Gothic" panose="020B0502020202020204" pitchFamily="34" charset="0"/>
              </a:rPr>
              <a:t>The first IMF is reconstructed from the wavelet coefficients using: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B0E73A-7726-A157-3A58-8B185F253408}"/>
                  </a:ext>
                </a:extLst>
              </p:cNvPr>
              <p:cNvSpPr txBox="1"/>
              <p:nvPr/>
            </p:nvSpPr>
            <p:spPr>
              <a:xfrm>
                <a:off x="3047044" y="2481597"/>
                <a:ext cx="6097904" cy="689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B0E73A-7726-A157-3A58-8B185F253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4" y="2481597"/>
                <a:ext cx="6097904" cy="689932"/>
              </a:xfrm>
              <a:prstGeom prst="rect">
                <a:avLst/>
              </a:prstGeom>
              <a:blipFill>
                <a:blip r:embed="rId4"/>
                <a:stretch>
                  <a:fillRect t="-160000" b="-24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351F26-40F2-155B-8F26-84CD431B4516}"/>
                  </a:ext>
                </a:extLst>
              </p:cNvPr>
              <p:cNvSpPr txBox="1"/>
              <p:nvPr/>
            </p:nvSpPr>
            <p:spPr>
              <a:xfrm>
                <a:off x="3047044" y="4110178"/>
                <a:ext cx="6097904" cy="689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351F26-40F2-155B-8F26-84CD431B4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4" y="4110178"/>
                <a:ext cx="6097904" cy="689932"/>
              </a:xfrm>
              <a:prstGeom prst="rect">
                <a:avLst/>
              </a:prstGeom>
              <a:blipFill>
                <a:blip r:embed="rId5"/>
                <a:stretch>
                  <a:fillRect t="-158182" b="-24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9C3045-4BC8-A72C-A562-ECF3D2AD99BE}"/>
                  </a:ext>
                </a:extLst>
              </p:cNvPr>
              <p:cNvSpPr txBox="1"/>
              <p:nvPr/>
            </p:nvSpPr>
            <p:spPr>
              <a:xfrm>
                <a:off x="3047044" y="5738759"/>
                <a:ext cx="6097904" cy="659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9C3045-4BC8-A72C-A562-ECF3D2AD9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4" y="5738759"/>
                <a:ext cx="6097904" cy="659219"/>
              </a:xfrm>
              <a:prstGeom prst="rect">
                <a:avLst/>
              </a:prstGeom>
              <a:blipFill>
                <a:blip r:embed="rId6"/>
                <a:stretch>
                  <a:fillRect t="-137037" b="-2055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93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2A81-F7C5-DEE8-61CF-792E51DA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54AC5-C94D-426F-CA6B-0D7E7C4D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6257852-A42B-0E7C-A483-C655FD5D42E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80319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EWT: </a:t>
            </a:r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Empirical Wavelet Transform for High-Frequency Refinement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5D6FA899-DFE1-3C77-0A6E-CC64E597CD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79" y="2158873"/>
            <a:ext cx="5643893" cy="2951939"/>
          </a:xfrm>
        </p:spPr>
      </p:pic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F11BB986-DEA8-BAA4-3FF9-73A491A4FC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28" y="2158873"/>
            <a:ext cx="5643893" cy="29519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A6CCDA-87C3-6842-CA19-00B15DA151B5}"/>
              </a:ext>
            </a:extLst>
          </p:cNvPr>
          <p:cNvSpPr txBox="1"/>
          <p:nvPr/>
        </p:nvSpPr>
        <p:spPr>
          <a:xfrm>
            <a:off x="752169" y="5397912"/>
            <a:ext cx="5073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baseline="0" dirty="0">
                <a:latin typeface="Century Gothic" panose="020B0502020202020204" pitchFamily="34" charset="0"/>
              </a:rPr>
              <a:t>A sample of the first IMF.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E571B6-33F1-0D0B-E822-32BF43EC8B61}"/>
              </a:ext>
            </a:extLst>
          </p:cNvPr>
          <p:cNvSpPr txBox="1"/>
          <p:nvPr/>
        </p:nvSpPr>
        <p:spPr>
          <a:xfrm>
            <a:off x="6592527" y="5397912"/>
            <a:ext cx="5225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0" i="0" u="none" strike="noStrike" baseline="0"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Denoised Signal of the first IMF Using EWT</a:t>
            </a:r>
          </a:p>
        </p:txBody>
      </p:sp>
    </p:spTree>
    <p:extLst>
      <p:ext uri="{BB962C8B-B14F-4D97-AF65-F5344CB8AC3E}">
        <p14:creationId xmlns:p14="http://schemas.microsoft.com/office/powerpoint/2010/main" val="27046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8FB626-5999-F33B-9BEE-333B6558F23A}"/>
              </a:ext>
            </a:extLst>
          </p:cNvPr>
          <p:cNvSpPr txBox="1">
            <a:spLocks/>
          </p:cNvSpPr>
          <p:nvPr/>
        </p:nvSpPr>
        <p:spPr>
          <a:xfrm>
            <a:off x="478980" y="142446"/>
            <a:ext cx="7772400" cy="75198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fr-FR" sz="32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GRU: </a:t>
            </a:r>
            <a:r>
              <a:rPr lang="fr-FR" sz="32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Gated</a:t>
            </a:r>
            <a:r>
              <a:rPr lang="fr-FR" sz="32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fr-FR" sz="32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Recurrent</a:t>
            </a:r>
            <a:r>
              <a:rPr lang="fr-FR" sz="32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Unit</a:t>
            </a:r>
            <a:endParaRPr lang="en-US" sz="32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FF34E-C60A-A290-B62E-FBC6E05BD545}"/>
              </a:ext>
            </a:extLst>
          </p:cNvPr>
          <p:cNvSpPr txBox="1"/>
          <p:nvPr/>
        </p:nvSpPr>
        <p:spPr>
          <a:xfrm>
            <a:off x="2867248" y="6341915"/>
            <a:ext cx="93247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[38] Jiwei Zhao, </a:t>
            </a:r>
            <a:r>
              <a:rPr lang="en-US" sz="1100" dirty="0" err="1">
                <a:latin typeface="Century Gothic" panose="020B0502020202020204" pitchFamily="34" charset="0"/>
              </a:rPr>
              <a:t>Guangzheng</a:t>
            </a:r>
            <a:r>
              <a:rPr lang="en-US" sz="1100" dirty="0">
                <a:latin typeface="Century Gothic" panose="020B0502020202020204" pitchFamily="34" charset="0"/>
              </a:rPr>
              <a:t> Nie, Meng Yan, </a:t>
            </a:r>
            <a:r>
              <a:rPr lang="en-US" sz="1100" dirty="0" err="1">
                <a:latin typeface="Century Gothic" panose="020B0502020202020204" pitchFamily="34" charset="0"/>
              </a:rPr>
              <a:t>Yaowen</a:t>
            </a:r>
            <a:r>
              <a:rPr lang="en-US" sz="1100" dirty="0">
                <a:latin typeface="Century Gothic" panose="020B0502020202020204" pitchFamily="34" charset="0"/>
              </a:rPr>
              <a:t> Wang, and </a:t>
            </a:r>
            <a:r>
              <a:rPr lang="en-US" sz="1100" dirty="0" err="1">
                <a:latin typeface="Century Gothic" panose="020B0502020202020204" pitchFamily="34" charset="0"/>
              </a:rPr>
              <a:t>Luyao</a:t>
            </a:r>
            <a:r>
              <a:rPr lang="en-US" sz="1100" dirty="0">
                <a:latin typeface="Century Gothic" panose="020B0502020202020204" pitchFamily="34" charset="0"/>
              </a:rPr>
              <a:t> Wang. A novel approach to precipitation prediction using a coupled </a:t>
            </a:r>
            <a:r>
              <a:rPr lang="en-US" sz="1100" dirty="0" err="1">
                <a:latin typeface="Century Gothic" panose="020B0502020202020204" pitchFamily="34" charset="0"/>
              </a:rPr>
              <a:t>ceemdan</a:t>
            </a:r>
            <a:r>
              <a:rPr lang="en-US" sz="1100" dirty="0">
                <a:latin typeface="Century Gothic" panose="020B0502020202020204" pitchFamily="34" charset="0"/>
              </a:rPr>
              <a:t>-</a:t>
            </a:r>
            <a:r>
              <a:rPr lang="en-US" sz="1100" dirty="0" err="1">
                <a:latin typeface="Century Gothic" panose="020B0502020202020204" pitchFamily="34" charset="0"/>
              </a:rPr>
              <a:t>gru</a:t>
            </a:r>
            <a:r>
              <a:rPr lang="en-US" sz="1100" dirty="0">
                <a:latin typeface="Century Gothic" panose="020B0502020202020204" pitchFamily="34" charset="0"/>
              </a:rPr>
              <a:t>-transformer model with permutation entropy algorithm. Water Science &amp; Technology, 88(4):1015–1038, 2023</a:t>
            </a:r>
            <a:endParaRPr lang="en-VN" sz="1100" dirty="0">
              <a:latin typeface="Century Gothic" panose="020B0502020202020204" pitchFamily="34" charset="0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601A410B-3A2D-D71E-9190-0E2023181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747" y="2695696"/>
            <a:ext cx="4865591" cy="35321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F45C04-EA41-0CCC-8BD1-5CE0FB979D76}"/>
              </a:ext>
            </a:extLst>
          </p:cNvPr>
          <p:cNvSpPr txBox="1"/>
          <p:nvPr/>
        </p:nvSpPr>
        <p:spPr>
          <a:xfrm>
            <a:off x="732733" y="1181905"/>
            <a:ext cx="8226932" cy="3181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A simplified variant of </a:t>
            </a:r>
            <a:r>
              <a:rPr lang="en-US" sz="1700" b="1" dirty="0">
                <a:latin typeface="Century Gothic" panose="020B0502020202020204" pitchFamily="34" charset="0"/>
              </a:rPr>
              <a:t>RNN</a:t>
            </a:r>
            <a:r>
              <a:rPr lang="en-US" sz="1700" dirty="0">
                <a:latin typeface="Century Gothic" panose="020B0502020202020204" pitchFamily="34" charset="0"/>
              </a:rPr>
              <a:t> that addresses the </a:t>
            </a:r>
            <a:r>
              <a:rPr lang="en-US" sz="1700" b="1" dirty="0">
                <a:latin typeface="Century Gothic" panose="020B0502020202020204" pitchFamily="34" charset="0"/>
              </a:rPr>
              <a:t>vanishing gradient problem.</a:t>
            </a:r>
            <a:endParaRPr lang="en-US" sz="17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Century Gothic" panose="020B0502020202020204" pitchFamily="34" charset="0"/>
              </a:rPr>
              <a:t>GRU architecture: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Century Gothic" panose="020B0502020202020204" pitchFamily="34" charset="0"/>
              </a:rPr>
              <a:t>     </a:t>
            </a:r>
            <a:r>
              <a:rPr lang="en-US" sz="1700" u="sng" dirty="0">
                <a:latin typeface="Century Gothic" panose="020B0502020202020204" pitchFamily="34" charset="0"/>
              </a:rPr>
              <a:t>Update gate</a:t>
            </a:r>
            <a:r>
              <a:rPr lang="en-US" sz="1700" dirty="0">
                <a:latin typeface="Century Gothic" panose="020B0502020202020204" pitchFamily="34" charset="0"/>
              </a:rPr>
              <a:t> controls how much past information to carry forward. 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     </a:t>
            </a:r>
            <a:r>
              <a:rPr lang="en-US" sz="1700" u="sng" dirty="0">
                <a:latin typeface="Century Gothic" panose="020B0502020202020204" pitchFamily="34" charset="0"/>
              </a:rPr>
              <a:t>Reset gate</a:t>
            </a:r>
            <a:r>
              <a:rPr lang="en-US" sz="1700" dirty="0">
                <a:latin typeface="Century Gothic" panose="020B0502020202020204" pitchFamily="34" charset="0"/>
              </a:rPr>
              <a:t> determines how to combine new input with previous memory.</a:t>
            </a:r>
          </a:p>
          <a:p>
            <a:pPr>
              <a:lnSpc>
                <a:spcPct val="150000"/>
              </a:lnSpc>
            </a:pPr>
            <a:r>
              <a:rPr lang="en-US" sz="1700" u="sng" dirty="0">
                <a:latin typeface="Century Gothic" panose="020B0502020202020204" pitchFamily="34" charset="0"/>
              </a:rPr>
              <a:t>Benefits of GRU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     Effectively handles </a:t>
            </a:r>
            <a:r>
              <a:rPr lang="en-US" sz="1700" b="1" dirty="0">
                <a:latin typeface="Century Gothic" panose="020B0502020202020204" pitchFamily="34" charset="0"/>
              </a:rPr>
              <a:t>high-frequency signals [38].</a:t>
            </a:r>
            <a:endParaRPr lang="en-US" sz="17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latin typeface="Century Gothic" panose="020B0502020202020204" pitchFamily="34" charset="0"/>
              </a:rPr>
              <a:t>     Requires </a:t>
            </a:r>
            <a:r>
              <a:rPr lang="en-US" sz="1700" b="1" dirty="0">
                <a:latin typeface="Century Gothic" panose="020B0502020202020204" pitchFamily="34" charset="0"/>
              </a:rPr>
              <a:t>fewer parameters</a:t>
            </a:r>
            <a:r>
              <a:rPr lang="en-US" sz="1700" dirty="0">
                <a:latin typeface="Century Gothic" panose="020B0502020202020204" pitchFamily="34" charset="0"/>
              </a:rPr>
              <a:t>, reducing overfitting risks.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Century Gothic" panose="020B0502020202020204" pitchFamily="34" charset="0"/>
              </a:rPr>
              <a:t>     Faster training</a:t>
            </a:r>
            <a:r>
              <a:rPr lang="en-US" sz="1700" dirty="0">
                <a:latin typeface="Century Gothic" panose="020B0502020202020204" pitchFamily="34" charset="0"/>
              </a:rPr>
              <a:t> than LSTM but similar or better performance.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72DF5D4-1E32-668C-CA0C-D22AE3249619}"/>
              </a:ext>
            </a:extLst>
          </p:cNvPr>
          <p:cNvSpPr/>
          <p:nvPr/>
        </p:nvSpPr>
        <p:spPr>
          <a:xfrm rot="5400000">
            <a:off x="573911" y="1381147"/>
            <a:ext cx="138380" cy="119293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9DA197-8890-0F94-F723-15134405A341}"/>
              </a:ext>
            </a:extLst>
          </p:cNvPr>
          <p:cNvCxnSpPr>
            <a:cxnSpLocks/>
          </p:cNvCxnSpPr>
          <p:nvPr/>
        </p:nvCxnSpPr>
        <p:spPr>
          <a:xfrm>
            <a:off x="858898" y="2118732"/>
            <a:ext cx="0" cy="613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FC20DE-5965-FDC7-FAA4-0EBE178C7B5F}"/>
              </a:ext>
            </a:extLst>
          </p:cNvPr>
          <p:cNvCxnSpPr>
            <a:cxnSpLocks/>
          </p:cNvCxnSpPr>
          <p:nvPr/>
        </p:nvCxnSpPr>
        <p:spPr>
          <a:xfrm>
            <a:off x="858898" y="3296337"/>
            <a:ext cx="0" cy="985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14C1991E-29E6-5FAC-1E2B-4F8E99C627F7}"/>
              </a:ext>
            </a:extLst>
          </p:cNvPr>
          <p:cNvSpPr/>
          <p:nvPr/>
        </p:nvSpPr>
        <p:spPr>
          <a:xfrm rot="5400000">
            <a:off x="573910" y="1756132"/>
            <a:ext cx="138380" cy="119293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3C2CB0A4-CADF-7471-7F22-6C0F8A972480}"/>
              </a:ext>
            </a:extLst>
          </p:cNvPr>
          <p:cNvSpPr/>
          <p:nvPr/>
        </p:nvSpPr>
        <p:spPr>
          <a:xfrm rot="5400000">
            <a:off x="573909" y="2927463"/>
            <a:ext cx="138380" cy="119293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2418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641FE5E-0643-A77B-707F-1B854D5CC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" y="1239491"/>
            <a:ext cx="10104120" cy="50577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CEB91DF-5587-268C-1326-F12A172D1742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Proposed Framework Overview</a:t>
            </a:r>
          </a:p>
        </p:txBody>
      </p:sp>
    </p:spTree>
    <p:extLst>
      <p:ext uri="{BB962C8B-B14F-4D97-AF65-F5344CB8AC3E}">
        <p14:creationId xmlns:p14="http://schemas.microsoft.com/office/powerpoint/2010/main" val="373136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66FA-2E9C-9AB7-1AF2-F5AFFD28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7688F6-9353-672B-8F6E-B3BD9ED9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0837D35-C3CC-C689-89B1-A3C540581347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Mathematical Formulation of the Framework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91F960F-A66A-1783-0D31-3B85A0E05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56" y="1526125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Step 1: </a:t>
            </a:r>
            <a:r>
              <a:rPr lang="en-US" sz="2000" dirty="0">
                <a:latin typeface="Century Gothic" panose="020B0502020202020204" pitchFamily="34" charset="0"/>
              </a:rPr>
              <a:t>Decomposing the Feature Using CEEMDAN</a:t>
            </a: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Century Gothic" panose="020B0502020202020204" pitchFamily="34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Step 2: </a:t>
            </a:r>
            <a:r>
              <a:rPr lang="en-US" sz="2000" dirty="0">
                <a:latin typeface="Century Gothic" panose="020B0502020202020204" pitchFamily="34" charset="0"/>
              </a:rPr>
              <a:t>Processing IMF1 Using EWT</a:t>
            </a: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Step 3: </a:t>
            </a:r>
            <a:r>
              <a:rPr lang="en-US" sz="2000" dirty="0">
                <a:latin typeface="Century Gothic" panose="020B0502020202020204" pitchFamily="34" charset="0"/>
              </a:rPr>
              <a:t>Training GRU for Each IMF Independently</a:t>
            </a: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Step 4: </a:t>
            </a:r>
            <a:r>
              <a:rPr lang="en-US" sz="2000" dirty="0">
                <a:latin typeface="Century Gothic" panose="020B0502020202020204" pitchFamily="34" charset="0"/>
              </a:rPr>
              <a:t>Final Prediction Aggregation (The final output is the sum of GRU outputs)</a:t>
            </a:r>
            <a:endParaRPr lang="en-US" sz="2000" b="1" dirty="0">
              <a:latin typeface="Century Gothic" panose="020B0502020202020204" pitchFamily="34" charset="0"/>
            </a:endParaRPr>
          </a:p>
          <a:p>
            <a:pPr>
              <a:buNone/>
            </a:pPr>
            <a:endParaRPr lang="en-US" sz="20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56E9CB-1FC8-25BA-FB95-1E2A6B4DB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60" t="57122" b="4967"/>
          <a:stretch/>
        </p:blipFill>
        <p:spPr>
          <a:xfrm>
            <a:off x="4209065" y="1925688"/>
            <a:ext cx="4239382" cy="717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296BB2-4510-94A1-EA67-C5F0C0F7F4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r="9495" b="-17227"/>
          <a:stretch/>
        </p:blipFill>
        <p:spPr>
          <a:xfrm>
            <a:off x="4922947" y="3136500"/>
            <a:ext cx="2811618" cy="717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7D19CA-10CD-75C0-FD26-37C4C3EB8B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0264" y="4499275"/>
            <a:ext cx="7316984" cy="5217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E71C34-8193-3494-B980-D6F04F399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2029" y="5739328"/>
            <a:ext cx="7093454" cy="7695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48D1B8-1192-B225-5094-83D7E753F726}"/>
              </a:ext>
            </a:extLst>
          </p:cNvPr>
          <p:cNvSpPr txBox="1"/>
          <p:nvPr/>
        </p:nvSpPr>
        <p:spPr>
          <a:xfrm>
            <a:off x="-1895061" y="2213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3496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47E3D-235E-99B3-A281-9F2D57DF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1F1E56-27B1-EE14-CF47-19475A6957F5}"/>
              </a:ext>
            </a:extLst>
          </p:cNvPr>
          <p:cNvSpPr txBox="1">
            <a:spLocks/>
          </p:cNvSpPr>
          <p:nvPr/>
        </p:nvSpPr>
        <p:spPr>
          <a:xfrm>
            <a:off x="0" y="2766218"/>
            <a:ext cx="12191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rgbClr val="435368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Experiments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329428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B445-FDBC-BCE5-3AC0-306DF037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0D901E-7B0A-1251-40E6-A351E9846413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4" name="Picture 6" descr="Wind turbines manufacturers from Turkey">
            <a:extLst>
              <a:ext uri="{FF2B5EF4-FFF2-40B4-BE49-F238E27FC236}">
                <a16:creationId xmlns:a16="http://schemas.microsoft.com/office/drawing/2014/main" id="{779A9F49-3F81-2CC6-8377-E1A359203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73" r="19195"/>
          <a:stretch/>
        </p:blipFill>
        <p:spPr bwMode="auto">
          <a:xfrm flipH="1">
            <a:off x="-1" y="0"/>
            <a:ext cx="922516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5BD658-A967-2FC6-BFC2-01641A8CD9AA}"/>
              </a:ext>
            </a:extLst>
          </p:cNvPr>
          <p:cNvSpPr/>
          <p:nvPr/>
        </p:nvSpPr>
        <p:spPr>
          <a:xfrm>
            <a:off x="4118159" y="-2270249"/>
            <a:ext cx="13367977" cy="122185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FD87BB-1D98-8F93-BCB9-063AB182019F}"/>
              </a:ext>
            </a:extLst>
          </p:cNvPr>
          <p:cNvSpPr txBox="1">
            <a:spLocks/>
          </p:cNvSpPr>
          <p:nvPr/>
        </p:nvSpPr>
        <p:spPr>
          <a:xfrm>
            <a:off x="5707269" y="597296"/>
            <a:ext cx="5976730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3C6899"/>
                </a:solidFill>
                <a:latin typeface="Century Gothic" panose="020B0502020202020204" pitchFamily="34" charset="0"/>
              </a:rPr>
              <a:t>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411D0-5A81-0E03-A4BC-A9FDEF947609}"/>
              </a:ext>
            </a:extLst>
          </p:cNvPr>
          <p:cNvSpPr txBox="1"/>
          <p:nvPr/>
        </p:nvSpPr>
        <p:spPr>
          <a:xfrm>
            <a:off x="6428617" y="1747155"/>
            <a:ext cx="5261434" cy="443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Location</a:t>
            </a:r>
            <a:r>
              <a:rPr lang="en-US" b="1" dirty="0">
                <a:latin typeface="Century Gothic" panose="020B0502020202020204" pitchFamily="34" charset="0"/>
              </a:rPr>
              <a:t>:</a:t>
            </a:r>
            <a:r>
              <a:rPr lang="en-US" dirty="0">
                <a:latin typeface="Century Gothic" panose="020B0502020202020204" pitchFamily="34" charset="0"/>
              </a:rPr>
              <a:t> Turkey (2018)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Frequency</a:t>
            </a:r>
            <a:r>
              <a:rPr lang="en-US" b="1" dirty="0">
                <a:latin typeface="Century Gothic" panose="020B0502020202020204" pitchFamily="34" charset="0"/>
              </a:rPr>
              <a:t>:</a:t>
            </a:r>
            <a:r>
              <a:rPr lang="en-US" dirty="0">
                <a:latin typeface="Century Gothic" panose="020B0502020202020204" pitchFamily="34" charset="0"/>
              </a:rPr>
              <a:t> 10-minute intervals over one year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Features:</a:t>
            </a:r>
            <a:endParaRPr lang="en-US" dirty="0">
              <a:solidFill>
                <a:srgbClr val="445268"/>
              </a:solidFill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LV </a:t>
            </a:r>
            <a:r>
              <a:rPr lang="en-US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ActivePower</a:t>
            </a: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 (kW):</a:t>
            </a:r>
            <a:r>
              <a:rPr lang="en-US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Actual power output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Wind Speed (m/s):</a:t>
            </a:r>
            <a:r>
              <a:rPr lang="en-US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At turbine height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Wind Direction (°):</a:t>
            </a:r>
            <a:r>
              <a:rPr lang="en-US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At hub height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Theoretical Power Curve:</a:t>
            </a:r>
            <a:r>
              <a:rPr lang="en-US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Ideal output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     based on turbine specs and wind speed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FFC84F-4DA1-AD8E-A7E2-4D972D73B702}"/>
              </a:ext>
            </a:extLst>
          </p:cNvPr>
          <p:cNvCxnSpPr>
            <a:cxnSpLocks/>
          </p:cNvCxnSpPr>
          <p:nvPr/>
        </p:nvCxnSpPr>
        <p:spPr>
          <a:xfrm>
            <a:off x="6545340" y="3652172"/>
            <a:ext cx="0" cy="2418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7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B0EC-498F-F6BD-23B2-2186224F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42DA65-4FD2-2B91-9FBE-14A7FE6FA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9F48003-5782-A391-2CEE-D1F50B1BBBA4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Experiment Settings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D0129-01B3-96EA-18B0-2D2C6D3441E6}"/>
              </a:ext>
            </a:extLst>
          </p:cNvPr>
          <p:cNvSpPr txBox="1"/>
          <p:nvPr/>
        </p:nvSpPr>
        <p:spPr>
          <a:xfrm>
            <a:off x="-1895061" y="2213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A08BEB-CE44-C38D-E03B-913A9E1F6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63" y="1877597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Model Training</a:t>
            </a:r>
            <a:endParaRPr lang="en-US" sz="1800" dirty="0">
              <a:solidFill>
                <a:srgbClr val="E78A40"/>
              </a:solidFill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Optimizer:</a:t>
            </a:r>
            <a:r>
              <a:rPr lang="en-US" sz="1800" dirty="0">
                <a:latin typeface="Century Gothic" panose="020B0502020202020204" pitchFamily="34" charset="0"/>
              </a:rPr>
              <a:t> Adam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Learning Rate:</a:t>
            </a:r>
            <a:r>
              <a:rPr lang="en-US" sz="1800" dirty="0">
                <a:latin typeface="Century Gothic" panose="020B0502020202020204" pitchFamily="34" charset="0"/>
              </a:rPr>
              <a:t> 0.001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Units per GRU Layer:</a:t>
            </a:r>
            <a:r>
              <a:rPr lang="en-US" sz="1800" dirty="0">
                <a:latin typeface="Century Gothic" panose="020B0502020202020204" pitchFamily="34" charset="0"/>
              </a:rPr>
              <a:t> 128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Batch Size:</a:t>
            </a:r>
            <a:r>
              <a:rPr lang="en-US" sz="1800" dirty="0">
                <a:latin typeface="Century Gothic" panose="020B0502020202020204" pitchFamily="34" charset="0"/>
              </a:rPr>
              <a:t> 64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Epochs:</a:t>
            </a:r>
            <a:r>
              <a:rPr lang="en-US" sz="1800" dirty="0">
                <a:latin typeface="Century Gothic" panose="020B0502020202020204" pitchFamily="34" charset="0"/>
              </a:rPr>
              <a:t> 30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Loss Function:</a:t>
            </a:r>
            <a:r>
              <a:rPr lang="en-US" sz="1800" dirty="0">
                <a:latin typeface="Century Gothic" panose="020B0502020202020204" pitchFamily="34" charset="0"/>
              </a:rPr>
              <a:t> Mean Squared Error (MSE)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3034683-F14E-FC25-078A-7A3C87B069D0}"/>
              </a:ext>
            </a:extLst>
          </p:cNvPr>
          <p:cNvSpPr txBox="1">
            <a:spLocks/>
          </p:cNvSpPr>
          <p:nvPr/>
        </p:nvSpPr>
        <p:spPr>
          <a:xfrm>
            <a:off x="5842781" y="1874862"/>
            <a:ext cx="6227298" cy="22680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Tools &amp; Libraries Used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CEEMDAN</a:t>
            </a:r>
            <a:r>
              <a:rPr lang="en-US" sz="1800" dirty="0">
                <a:latin typeface="Century Gothic" panose="020B0502020202020204" pitchFamily="34" charset="0"/>
              </a:rPr>
              <a:t>: Implemented using </a:t>
            </a:r>
            <a:r>
              <a:rPr lang="en-US" sz="1800" dirty="0" err="1">
                <a:latin typeface="Century Gothic" panose="020B0502020202020204" pitchFamily="34" charset="0"/>
              </a:rPr>
              <a:t>pyEMD</a:t>
            </a:r>
            <a:r>
              <a:rPr lang="en-US" sz="1800" dirty="0">
                <a:latin typeface="Century Gothic" panose="020B0502020202020204" pitchFamily="34" charset="0"/>
              </a:rPr>
              <a:t> package.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EWT</a:t>
            </a:r>
            <a:r>
              <a:rPr lang="en-US" sz="1800" dirty="0">
                <a:latin typeface="Century Gothic" panose="020B0502020202020204" pitchFamily="34" charset="0"/>
              </a:rPr>
              <a:t>: Performed using </a:t>
            </a:r>
            <a:r>
              <a:rPr lang="en-US" sz="1800" dirty="0" err="1">
                <a:latin typeface="Century Gothic" panose="020B0502020202020204" pitchFamily="34" charset="0"/>
              </a:rPr>
              <a:t>ewtpy</a:t>
            </a:r>
            <a:r>
              <a:rPr lang="en-US" sz="1800" dirty="0">
                <a:latin typeface="Century Gothic" panose="020B0502020202020204" pitchFamily="34" charset="0"/>
              </a:rPr>
              <a:t> package.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Century Gothic" panose="020B0502020202020204" pitchFamily="34" charset="0"/>
              </a:rPr>
              <a:t>   </a:t>
            </a:r>
            <a:r>
              <a:rPr lang="en-US" sz="1800" b="1" dirty="0">
                <a:latin typeface="Century Gothic" panose="020B0502020202020204" pitchFamily="34" charset="0"/>
              </a:rPr>
              <a:t>DL Models</a:t>
            </a:r>
            <a:r>
              <a:rPr lang="en-US" sz="1800" dirty="0">
                <a:latin typeface="Century Gothic" panose="020B0502020202020204" pitchFamily="34" charset="0"/>
              </a:rPr>
              <a:t>: Built using </a:t>
            </a:r>
            <a:r>
              <a:rPr lang="en-US" sz="1800" dirty="0" err="1">
                <a:latin typeface="Century Gothic" panose="020B0502020202020204" pitchFamily="34" charset="0"/>
              </a:rPr>
              <a:t>Keras</a:t>
            </a:r>
            <a:r>
              <a:rPr lang="en-US" sz="1800" dirty="0">
                <a:latin typeface="Century Gothic" panose="020B0502020202020204" pitchFamily="34" charset="0"/>
              </a:rPr>
              <a:t> &amp; TensorFlow.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37AD172-C116-DE77-B928-CA9145592F4B}"/>
              </a:ext>
            </a:extLst>
          </p:cNvPr>
          <p:cNvSpPr txBox="1">
            <a:spLocks/>
          </p:cNvSpPr>
          <p:nvPr/>
        </p:nvSpPr>
        <p:spPr>
          <a:xfrm>
            <a:off x="5842781" y="4035666"/>
            <a:ext cx="6227298" cy="22680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Input-Output Configuration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Input Lengths</a:t>
            </a:r>
            <a:r>
              <a:rPr lang="en-US" sz="1800" dirty="0">
                <a:latin typeface="Century Gothic" panose="020B0502020202020204" pitchFamily="34" charset="0"/>
              </a:rPr>
              <a:t>: 1h, 1.5h, 2h, 4h.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   Output Horizons</a:t>
            </a:r>
            <a:r>
              <a:rPr lang="en-US" sz="1800" dirty="0">
                <a:latin typeface="Century Gothic" panose="020B0502020202020204" pitchFamily="34" charset="0"/>
              </a:rPr>
              <a:t>: 10 min, 20 min, 30 min, 1h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53B1FF-4E29-E5E7-8E25-F349FB1E1231}"/>
              </a:ext>
            </a:extLst>
          </p:cNvPr>
          <p:cNvCxnSpPr>
            <a:cxnSpLocks/>
          </p:cNvCxnSpPr>
          <p:nvPr/>
        </p:nvCxnSpPr>
        <p:spPr>
          <a:xfrm>
            <a:off x="507205" y="2588641"/>
            <a:ext cx="0" cy="28952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5BA36F-942D-5C84-E349-99E5279F3E5E}"/>
              </a:ext>
            </a:extLst>
          </p:cNvPr>
          <p:cNvCxnSpPr>
            <a:cxnSpLocks/>
          </p:cNvCxnSpPr>
          <p:nvPr/>
        </p:nvCxnSpPr>
        <p:spPr>
          <a:xfrm>
            <a:off x="5963125" y="2589517"/>
            <a:ext cx="0" cy="12415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4490E3-B10C-B587-8722-736B5F031166}"/>
              </a:ext>
            </a:extLst>
          </p:cNvPr>
          <p:cNvCxnSpPr>
            <a:cxnSpLocks/>
          </p:cNvCxnSpPr>
          <p:nvPr/>
        </p:nvCxnSpPr>
        <p:spPr>
          <a:xfrm>
            <a:off x="5963125" y="4752461"/>
            <a:ext cx="0" cy="7313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6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09FE-D078-9336-DA81-7810CFE7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D5B2B7-EF22-4DFD-7B52-2ED8AD9B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12191993" cy="11322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078F321-C486-34FA-00B8-282CA2A7ADD4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Evaluation Metrics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A8B85A-1EDF-6BF6-0323-58FEC436A93B}"/>
              </a:ext>
            </a:extLst>
          </p:cNvPr>
          <p:cNvSpPr txBox="1"/>
          <p:nvPr/>
        </p:nvSpPr>
        <p:spPr>
          <a:xfrm>
            <a:off x="-1895061" y="2213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CD2F0E-E310-1F85-BB78-BE1DCFAF3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5809" y="1874862"/>
            <a:ext cx="3794552" cy="47993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Root Mean Squared Error (RMSE)</a:t>
            </a:r>
            <a:endParaRPr lang="en-US" sz="1800" dirty="0">
              <a:solidFill>
                <a:srgbClr val="E78A40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6EAAD96-3DE4-4E40-37A2-BA15FCB9D6D7}"/>
              </a:ext>
            </a:extLst>
          </p:cNvPr>
          <p:cNvSpPr txBox="1">
            <a:spLocks/>
          </p:cNvSpPr>
          <p:nvPr/>
        </p:nvSpPr>
        <p:spPr>
          <a:xfrm>
            <a:off x="7346998" y="1874862"/>
            <a:ext cx="3143818" cy="7075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Mean Absolute Error (MAE)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47121BC-520D-154E-E39F-1E21CF166420}"/>
              </a:ext>
            </a:extLst>
          </p:cNvPr>
          <p:cNvSpPr txBox="1">
            <a:spLocks/>
          </p:cNvSpPr>
          <p:nvPr/>
        </p:nvSpPr>
        <p:spPr>
          <a:xfrm>
            <a:off x="1963666" y="4171639"/>
            <a:ext cx="2628115" cy="5100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R-Squared (R² Score)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4FC0364-E2A1-F1F5-A1D6-5EC2159DB32E}"/>
              </a:ext>
            </a:extLst>
          </p:cNvPr>
          <p:cNvSpPr txBox="1">
            <a:spLocks/>
          </p:cNvSpPr>
          <p:nvPr/>
        </p:nvSpPr>
        <p:spPr>
          <a:xfrm>
            <a:off x="7609486" y="4171639"/>
            <a:ext cx="2628115" cy="5100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Margin of Error (ME)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EA4949-226A-628A-8AE9-05DDA35D6D2D}"/>
                  </a:ext>
                </a:extLst>
              </p:cNvPr>
              <p:cNvSpPr txBox="1"/>
              <p:nvPr/>
            </p:nvSpPr>
            <p:spPr>
              <a:xfrm>
                <a:off x="1737655" y="2630272"/>
                <a:ext cx="3070859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EA4949-226A-628A-8AE9-05DDA35D6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655" y="2630272"/>
                <a:ext cx="3070859" cy="910699"/>
              </a:xfrm>
              <a:prstGeom prst="rect">
                <a:avLst/>
              </a:prstGeom>
              <a:blipFill>
                <a:blip r:embed="rId4"/>
                <a:stretch>
                  <a:fillRect t="-86301" b="-14246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3ED243-66D3-21CC-1F99-0ECFBC6B54CB}"/>
                  </a:ext>
                </a:extLst>
              </p:cNvPr>
              <p:cNvSpPr txBox="1"/>
              <p:nvPr/>
            </p:nvSpPr>
            <p:spPr>
              <a:xfrm>
                <a:off x="7049626" y="2765877"/>
                <a:ext cx="3738563" cy="648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3ED243-66D3-21CC-1F99-0ECFBC6B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626" y="2765877"/>
                <a:ext cx="3738563" cy="648639"/>
              </a:xfrm>
              <a:prstGeom prst="rect">
                <a:avLst/>
              </a:prstGeom>
              <a:blipFill>
                <a:blip r:embed="rId5"/>
                <a:stretch>
                  <a:fillRect t="-144231" b="-21538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1F18CF-C469-568B-7589-DF5CAC049641}"/>
                  </a:ext>
                </a:extLst>
              </p:cNvPr>
              <p:cNvSpPr txBox="1"/>
              <p:nvPr/>
            </p:nvSpPr>
            <p:spPr>
              <a:xfrm>
                <a:off x="889453" y="5062107"/>
                <a:ext cx="4767262" cy="712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1F18CF-C469-568B-7589-DF5CAC049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53" y="5062107"/>
                <a:ext cx="4767262" cy="712567"/>
              </a:xfrm>
              <a:prstGeom prst="rect">
                <a:avLst/>
              </a:prstGeom>
              <a:blipFill>
                <a:blip r:embed="rId6"/>
                <a:stretch>
                  <a:fillRect t="-57895" b="-859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10599C-564A-79F6-3DEA-32FE25ED4A19}"/>
                  </a:ext>
                </a:extLst>
              </p:cNvPr>
              <p:cNvSpPr txBox="1"/>
              <p:nvPr/>
            </p:nvSpPr>
            <p:spPr>
              <a:xfrm>
                <a:off x="6985329" y="5062107"/>
                <a:ext cx="3867156" cy="1170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latin typeface="Century Gothic" panose="020B0502020202020204" pitchFamily="34" charset="0"/>
                  </a:rPr>
                  <a:t>* Z is set to 1.96 (95% confidence)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10599C-564A-79F6-3DEA-32FE25ED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29" y="5062107"/>
                <a:ext cx="3867156" cy="1170898"/>
              </a:xfrm>
              <a:prstGeom prst="rect">
                <a:avLst/>
              </a:prstGeom>
              <a:blipFill>
                <a:blip r:embed="rId7"/>
                <a:stretch>
                  <a:fillRect l="-1639" r="-984" b="-75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18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DA67-8764-4373-05FD-C07F457E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A13B697-7A28-419B-FE96-3973AD0891E0}"/>
              </a:ext>
            </a:extLst>
          </p:cNvPr>
          <p:cNvSpPr txBox="1"/>
          <p:nvPr/>
        </p:nvSpPr>
        <p:spPr>
          <a:xfrm>
            <a:off x="-1895061" y="2213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graphicFrame>
        <p:nvGraphicFramePr>
          <p:cNvPr id="17" name="Content Placeholder 11">
            <a:extLst>
              <a:ext uri="{FF2B5EF4-FFF2-40B4-BE49-F238E27FC236}">
                <a16:creationId xmlns:a16="http://schemas.microsoft.com/office/drawing/2014/main" id="{D06C723B-B4BC-5BA1-8B85-45BC509497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338497"/>
              </p:ext>
            </p:extLst>
          </p:nvPr>
        </p:nvGraphicFramePr>
        <p:xfrm>
          <a:off x="477313" y="1227243"/>
          <a:ext cx="11237372" cy="4928196"/>
        </p:xfrm>
        <a:graphic>
          <a:graphicData uri="http://schemas.openxmlformats.org/drawingml/2006/table">
            <a:tbl>
              <a:tblPr/>
              <a:tblGrid>
                <a:gridCol w="2586302">
                  <a:extLst>
                    <a:ext uri="{9D8B030D-6E8A-4147-A177-3AD203B41FA5}">
                      <a16:colId xmlns:a16="http://schemas.microsoft.com/office/drawing/2014/main" val="3999972302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185405194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4228986776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38980519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2869398372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3384814772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2598808330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355228803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2213076609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485602551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798128682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430921954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480861825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796097722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1673017863"/>
                    </a:ext>
                  </a:extLst>
                </a:gridCol>
                <a:gridCol w="576738">
                  <a:extLst>
                    <a:ext uri="{9D8B030D-6E8A-4147-A177-3AD203B41FA5}">
                      <a16:colId xmlns:a16="http://schemas.microsoft.com/office/drawing/2014/main" val="330439134"/>
                    </a:ext>
                  </a:extLst>
                </a:gridCol>
              </a:tblGrid>
              <a:tr h="1760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Jan 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March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June 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August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Sept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 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0084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Transformer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303.769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337.06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337.77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275.645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383.119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364.777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133.419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329.653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327.721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254.302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330.843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144.958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293.586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3523.036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45917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169.387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215.915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228.503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203.776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287.115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254.79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78.333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284.386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270.494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205.926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283.193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110.23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216.004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2592.048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975610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10.841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31525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RNN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306.116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309.844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340.632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182.063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378.39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387.04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146.304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433.305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277.605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660.569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255.5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193.325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322.558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3870.693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26797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125.373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237.603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262.925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122.658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281.454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280.922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75.711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388.814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217.617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493.573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201.612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177.783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238.837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2866.045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64469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10.542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006994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LSTM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284.606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321.078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523.171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224.114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437.65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390.345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143.354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536.128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424.752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469.072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317.835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187.92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355.002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4260.025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942585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162.914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238.959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448.153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165.147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330.957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284.547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77.384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422.277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355.027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361.581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205.464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163.88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268.024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3216.29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397664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10.378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091851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GRU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296.017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315.61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410.94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208.442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700.199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445.345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141.179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390.569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354.488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420.751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243.922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197.536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343.75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4124.998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42975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188.871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241.312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357.801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161.729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564.648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335.714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341.732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290.468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327.232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175.378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182.364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270.621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3247.453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96660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10.226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76672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Bi-LSTM 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278.346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272.156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289.604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187.959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336.597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362.967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128.563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247.936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235.54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257.309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221.25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112.407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244.22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2930.634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129917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101.444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138.946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181.576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244.266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247.79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188.97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191.047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137.975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62.901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152.201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1826.414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62099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953356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CEEDMAN-EWT-GRU (Proposed Method)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159.848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104.645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115.854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65.954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120.018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129.677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44.944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80.535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96.789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64.776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36.311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1104.632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93374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113.258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62.112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67.037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41.752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81.743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94.476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54.866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70.223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45.104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40.109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21.787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59.831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717.977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098385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11.863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633562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CEEDMAN-EWT-LSTM (Benchmark) 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202.458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108.26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121.099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67.965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124.621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132.089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45.811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81.868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151.252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72.272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36.726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102.397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1228.759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714144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146.862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68.415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70.416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42.866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84.172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26.578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56.907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120.283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22.549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69.316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831.788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21664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72259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CEEDMAN-EWT-Bi-LSTM 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185.342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115.757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125.428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67.587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125.268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133.228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46.435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84.128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143.651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74.643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86.547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107.076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107.924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1295.09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687689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127.545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73.032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76.937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44.338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84.239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97.899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28.391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61.664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114.453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55.023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41.815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81.333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73.889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886.669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65457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500510"/>
                  </a:ext>
                </a:extLst>
              </a:tr>
              <a:tr h="176007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CEEDMAN-EWT-Transformer  </a:t>
                      </a:r>
                    </a:p>
                  </a:txBody>
                  <a:tcPr marL="89297" marR="89297" marT="44649" marB="4464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382.646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173.029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241.975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109.585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210.966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208.302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66.362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132.306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370.888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148.649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123.775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150.738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193.268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2319.221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5840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278.782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102.245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149.807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63.986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149.908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150.169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88.671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298.668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115.095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58.034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110.931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133.516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1602.191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76959"/>
                  </a:ext>
                </a:extLst>
              </a:tr>
              <a:tr h="1760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0.955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0.986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11.301</a:t>
                      </a:r>
                    </a:p>
                  </a:txBody>
                  <a:tcPr marL="8204" marR="8204" marT="82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58609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AFC484B-C142-ED98-CAD9-814DEB50B548}"/>
              </a:ext>
            </a:extLst>
          </p:cNvPr>
          <p:cNvSpPr txBox="1"/>
          <p:nvPr/>
        </p:nvSpPr>
        <p:spPr>
          <a:xfrm>
            <a:off x="0" y="629529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Forecasting Performance of Different Methods for </a:t>
            </a:r>
            <a:r>
              <a:rPr lang="en-US" sz="1800" b="1" i="0" u="none" strike="noStrike" baseline="0" dirty="0">
                <a:solidFill>
                  <a:srgbClr val="E78A40"/>
                </a:solidFill>
                <a:latin typeface="Century Gothic" panose="020B0502020202020204" pitchFamily="34" charset="0"/>
              </a:rPr>
              <a:t>1-Hour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 Input Length and </a:t>
            </a:r>
            <a:r>
              <a:rPr lang="en-US" sz="1800" b="1" i="0" u="none" strike="noStrike" baseline="0" dirty="0">
                <a:solidFill>
                  <a:srgbClr val="E78A40"/>
                </a:solidFill>
                <a:latin typeface="Century Gothic" panose="020B0502020202020204" pitchFamily="34" charset="0"/>
              </a:rPr>
              <a:t>10-Minute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 Forecast Horizon.</a:t>
            </a:r>
            <a:endParaRPr lang="en-US" dirty="0">
              <a:latin typeface="Century Gothic" panose="020B0502020202020204" pitchFamily="34" charset="0"/>
            </a:endParaRPr>
          </a:p>
          <a:p>
            <a:pPr algn="ctr"/>
            <a:endParaRPr lang="en-VN" dirty="0">
              <a:latin typeface="Century Gothic" panose="020B0502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2DE9AE1-B4CA-ABF8-B693-929890397F36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86326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9C2D-973D-0AA7-2AC8-77DF8F9E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D76C15-604F-F999-5145-478D1A92A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47865"/>
              </p:ext>
            </p:extLst>
          </p:nvPr>
        </p:nvGraphicFramePr>
        <p:xfrm>
          <a:off x="477312" y="1230585"/>
          <a:ext cx="11237371" cy="4924867"/>
        </p:xfrm>
        <a:graphic>
          <a:graphicData uri="http://schemas.openxmlformats.org/drawingml/2006/table">
            <a:tbl>
              <a:tblPr/>
              <a:tblGrid>
                <a:gridCol w="3159925">
                  <a:extLst>
                    <a:ext uri="{9D8B030D-6E8A-4147-A177-3AD203B41FA5}">
                      <a16:colId xmlns:a16="http://schemas.microsoft.com/office/drawing/2014/main" val="3820193096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541327127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136327754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582250776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421182923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167366882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165563380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228025333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861423895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766687666"/>
                    </a:ext>
                  </a:extLst>
                </a:gridCol>
              </a:tblGrid>
              <a:tr h="16982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mins 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498327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80067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293.586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3523.036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306.499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3677.992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307.823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3693.874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300.705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3608.454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511501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216.004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2592.048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225.276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2703.309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241.268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2895.218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2709.004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756666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466463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RNN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322.558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3870.693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387.413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4648.958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298.447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3581.359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330.023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3960.27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744768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238.837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2866.045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305.683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3668.192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211.489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2537.868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253.346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3040.147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687593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907215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355.002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4260.025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323.174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3878.088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329.386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3952.631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333.623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4003.478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334575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268.024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3216.29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245.355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2944.258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249.855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2998.255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257.275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3087.296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595604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018731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GRU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4124.998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311.541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3738.497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319.265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3831.182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315.186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3782.227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12960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270.621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3247.453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238.154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2857.844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239.535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2874.417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243.419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2921.032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673879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323746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Bi-LSTM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2930.634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239.601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2875.213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236.6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2839.204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240.979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2891.744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317420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152.201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1826.414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148.458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1781.491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143.16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1717.922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149.053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1788.637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12756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415803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CEEMDAN-EWT-GRU (Proposed Method)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1104.632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1145.823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94.319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1131.832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93.716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1124.59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76262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59.831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717.977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762.48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63.108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757.295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737.893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551181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11.863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373083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CEEMDAN-EWT-LSTM (Benchmark)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102.397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1228.759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97.157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1165.887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112.135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1345.617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104.615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1255.377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255053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831.788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65.105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781.257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77.743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932.915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71.117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853.4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254554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11.818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720228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CEEMDAN-EWT-Bi-LSTM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107.924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1295.09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101.542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1218.5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108.461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1301.536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102.127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1225.519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89830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73.889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886.669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68.559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822.703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75.686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908.227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68.611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823.326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43433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01590"/>
                  </a:ext>
                </a:extLst>
              </a:tr>
              <a:tr h="169823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CEEMDAN-EWT-Transformer 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193.268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2319.221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197.823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2373.878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202.456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2429.474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282.123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3385.481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96335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133.516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1602.191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134.874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1618.486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139.113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1669.359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182.674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2192.083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241101"/>
                  </a:ext>
                </a:extLst>
              </a:tr>
              <a:tr h="169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5099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72A416-CE5D-8CBD-7C33-6078AF9804BD}"/>
              </a:ext>
            </a:extLst>
          </p:cNvPr>
          <p:cNvSpPr txBox="1"/>
          <p:nvPr/>
        </p:nvSpPr>
        <p:spPr>
          <a:xfrm>
            <a:off x="246183" y="6286872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Forecasting 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Performance</a:t>
            </a:r>
            <a:r>
              <a:rPr lang="en-US" dirty="0">
                <a:latin typeface="Century Gothic" panose="020B0502020202020204" pitchFamily="34" charset="0"/>
              </a:rPr>
              <a:t> of Different Methods for Varying Input Lengths with a Fixed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10-Minute Horizon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2A3268C-D126-C0D3-FAE7-3787EE2C4601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231519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DB471F-077F-4B7E-1883-800A0AA69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695295"/>
              </p:ext>
            </p:extLst>
          </p:nvPr>
        </p:nvGraphicFramePr>
        <p:xfrm>
          <a:off x="477312" y="1234440"/>
          <a:ext cx="11237367" cy="4921010"/>
        </p:xfrm>
        <a:graphic>
          <a:graphicData uri="http://schemas.openxmlformats.org/drawingml/2006/table">
            <a:tbl>
              <a:tblPr/>
              <a:tblGrid>
                <a:gridCol w="3159921">
                  <a:extLst>
                    <a:ext uri="{9D8B030D-6E8A-4147-A177-3AD203B41FA5}">
                      <a16:colId xmlns:a16="http://schemas.microsoft.com/office/drawing/2014/main" val="3065579002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2230173748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2519206418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066594073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048327793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921252469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528323529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480674190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709835627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749507304"/>
                    </a:ext>
                  </a:extLst>
                </a:gridCol>
              </a:tblGrid>
              <a:tr h="1696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93870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99139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368.291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4419.493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3964.922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339.472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4073.669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358.223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4298.677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60471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273.234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3278.812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235.107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2821.278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252.063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3024.754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259.97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3119.643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885333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893212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RNN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419.843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5038.112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362.925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4355.099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389.01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4668.114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415.999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4991.991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259263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322.454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3869.447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266.953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3203.437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290.467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3485.607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323.737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3884.845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58747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9.906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86321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399.286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4791.427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393.873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4726.471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367.407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4408.888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382.61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4591.323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7994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302.661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3631.936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300.343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3604.111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275.057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3300.685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283.157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3397.886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07236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86068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GRU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361.857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4342.28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355.014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4260.169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353.052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4236.627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356.191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4274.286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85934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270.999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3251.985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265.462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3185.541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264.791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3177.492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264.641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3175.696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9003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44374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Bi-LSTM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295.176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3542.108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291.242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3494.907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289.605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3475.256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288.785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3465.42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86114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184.851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2218.208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182.629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2191.55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178.746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2144.955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175.219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2102.623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02271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048275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CEEMDAN-EWT-GRU (Proposed Method)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124.536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1494.432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118.795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1425.542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114.656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1375.873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114.426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1373.115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1708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80.137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961.648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76.893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922.714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856.967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72.315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867.777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62208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11.738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11.764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767590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CEEMDAN-EWT-LSTM (Benchmark)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134.258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1611.098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133.934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1607.206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144.748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1736.981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145.397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1744.758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9450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1071.362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90.319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1083.829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98.343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1180.116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98.796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1185.55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06798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482779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CEEMDAN-EWT-Bi-LSTM 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144.397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1732.758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127.824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1533.892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130.238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1562.852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128.598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1543.171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1933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98.194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1178.333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85.302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1023.629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1034.639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83.277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999.327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55341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804714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266.494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3197.928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272.242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3266.907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3273.479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367.161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4405.933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92892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194.28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2331.356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196.638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2359.654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196.451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2357.407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273.8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3285.596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55870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671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2962AB-4FCC-69C7-370E-845696744BA2}"/>
              </a:ext>
            </a:extLst>
          </p:cNvPr>
          <p:cNvSpPr txBox="1"/>
          <p:nvPr/>
        </p:nvSpPr>
        <p:spPr>
          <a:xfrm>
            <a:off x="246183" y="6286872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Forecasting 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Performance</a:t>
            </a:r>
            <a:r>
              <a:rPr lang="en-US" dirty="0">
                <a:latin typeface="Century Gothic" panose="020B0502020202020204" pitchFamily="34" charset="0"/>
              </a:rPr>
              <a:t> of Different Methods for Varying Input Lengths with a Fixed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20-Minute Horizon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EDDA62-4FF9-7A72-20B6-1800A39F841C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51299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52A2767-10CA-E06F-F2B0-F35408426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901946"/>
              </p:ext>
            </p:extLst>
          </p:nvPr>
        </p:nvGraphicFramePr>
        <p:xfrm>
          <a:off x="477312" y="1234440"/>
          <a:ext cx="11237365" cy="4921010"/>
        </p:xfrm>
        <a:graphic>
          <a:graphicData uri="http://schemas.openxmlformats.org/drawingml/2006/table">
            <a:tbl>
              <a:tblPr/>
              <a:tblGrid>
                <a:gridCol w="3159928">
                  <a:extLst>
                    <a:ext uri="{9D8B030D-6E8A-4147-A177-3AD203B41FA5}">
                      <a16:colId xmlns:a16="http://schemas.microsoft.com/office/drawing/2014/main" val="4210124601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4104710563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461039776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3334959344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3836800464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1091664182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4271470627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3195109113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424027957"/>
                    </a:ext>
                  </a:extLst>
                </a:gridCol>
                <a:gridCol w="897493">
                  <a:extLst>
                    <a:ext uri="{9D8B030D-6E8A-4147-A177-3AD203B41FA5}">
                      <a16:colId xmlns:a16="http://schemas.microsoft.com/office/drawing/2014/main" val="844447772"/>
                    </a:ext>
                  </a:extLst>
                </a:gridCol>
              </a:tblGrid>
              <a:tr h="1696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mins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668273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09834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387.187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4646.246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391.37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4696.445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390.979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4691.751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412.026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4944.308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6726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278.64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3343.684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292.054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3504.649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292.543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3510.517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308.432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3701.179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49888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641961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RNN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420.421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5045.046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431.75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5181.002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4976.997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443.842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5326.108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34226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318.516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3822.194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332.502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3990.019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311.356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3736.277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332.323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3987.88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8419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749939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459.679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5516.145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432.133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5185.599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408.496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4901.947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411.389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4936.67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13694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354.378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4252.531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326.598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3919.176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304.631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3655.567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301.294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3615.522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782573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17049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GRU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393.507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4722.089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381.812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4581.741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386.333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4635.997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385.283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4623.394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72401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293.63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3523.556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280.973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3371.675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288.609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3463.302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285.569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3426.823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8627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667661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Bi-LSTM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335.629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4027.552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326.777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3921.326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326.845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3922.144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326.68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3920.155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86869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217.087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2605.041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201.043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2412.521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200.346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2404.157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198.599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2383.191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4786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20633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CEEMDAN-EWT-GRU (Proposed Method)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139.198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1670.371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136.844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1642.126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1584.437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137.381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1648.574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26865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1068.605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88.694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1064.327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1012.067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88.542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1062.503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559045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412342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CEEMDAN-EWT-LSTM (Benchmark)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154.203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1850.436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151.214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1814.569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159.114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1909.362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162.702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1952.424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92712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104.191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1250.294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1227.956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107.294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1287.529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107.308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1287.691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22258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11.463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11.464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140862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CEEMDAN-EWT-Bi-LSTM 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151.427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1817.125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150.957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1811.487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149.384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1792.609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179.811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2157.728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51880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1196.116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1213.921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1195.575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123.906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1486.87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69281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51727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281.531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3378.368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279.807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3357.678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286.151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3433.811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369.661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4435.932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6337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205.216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2462.593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201.873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2422.47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211.082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2532.98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277.186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3326.231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1484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9.921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7092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8393493-C165-E331-621A-0868C57CC1CE}"/>
              </a:ext>
            </a:extLst>
          </p:cNvPr>
          <p:cNvSpPr txBox="1"/>
          <p:nvPr/>
        </p:nvSpPr>
        <p:spPr>
          <a:xfrm>
            <a:off x="246183" y="6286872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Forecasting 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Performance</a:t>
            </a:r>
            <a:r>
              <a:rPr lang="en-US" dirty="0">
                <a:latin typeface="Century Gothic" panose="020B0502020202020204" pitchFamily="34" charset="0"/>
              </a:rPr>
              <a:t> of Different Methods for Varying Input Lengths with a Fixed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30-Minute Horizon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06C3A1-871D-174F-BDE5-703CD56E8331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19151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303A42-DC88-29A9-9143-33DF06EB5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781190"/>
              </p:ext>
            </p:extLst>
          </p:nvPr>
        </p:nvGraphicFramePr>
        <p:xfrm>
          <a:off x="477313" y="1234439"/>
          <a:ext cx="11237366" cy="4921010"/>
        </p:xfrm>
        <a:graphic>
          <a:graphicData uri="http://schemas.openxmlformats.org/drawingml/2006/table">
            <a:tbl>
              <a:tblPr/>
              <a:tblGrid>
                <a:gridCol w="3159920">
                  <a:extLst>
                    <a:ext uri="{9D8B030D-6E8A-4147-A177-3AD203B41FA5}">
                      <a16:colId xmlns:a16="http://schemas.microsoft.com/office/drawing/2014/main" val="2901270278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2694024506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975843307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112994792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512411297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398958860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253379947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4273941491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041998818"/>
                    </a:ext>
                  </a:extLst>
                </a:gridCol>
                <a:gridCol w="897494">
                  <a:extLst>
                    <a:ext uri="{9D8B030D-6E8A-4147-A177-3AD203B41FA5}">
                      <a16:colId xmlns:a16="http://schemas.microsoft.com/office/drawing/2014/main" val="1646090235"/>
                    </a:ext>
                  </a:extLst>
                </a:gridCol>
              </a:tblGrid>
              <a:tr h="1696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70319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261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474.08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5688.962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495.556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5946.667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390.979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4691.751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495.998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5951.979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96154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358.824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4305.892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378.976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4547.712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292.543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3510.517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382.669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4592.024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6222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610725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RNN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482.649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5791.788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469.162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5629.939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4976.997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798.335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9580.017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270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357.561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4290.73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346.509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4158.11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311.356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3736.277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410.813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4929.759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10151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65697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502.833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6033.991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484.157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5809.887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408.496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4901.947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481.456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5777.471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13770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383.028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4596.335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359.989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4319.869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304.631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3655.567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357.571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4290.854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65735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8.568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8.855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9.716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68319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GRU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463.591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5563.094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450.976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5411.717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386.333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4635.997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448.137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5377.647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3598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339.115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4069.385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330.991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3971.895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288.609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3463.302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325.449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3905.389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96144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9.135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6516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Bi-LSTM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407.983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4895.793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407.479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4889.746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326.845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3922.144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409.367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4912.4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084116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256.9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3082.802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255.636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3067.636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200.346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2404.157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254.975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3059.697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667088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9.715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10.517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9.703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277885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CEEMDAN-EWT-GRU (Proposed Method)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188.074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2256.891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182.877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2194.526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132.036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1584.437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181.742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2180.905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08967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121.369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1456.425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117.507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1410.087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1012.067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116.222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1394.665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6343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726172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CEEMDAN-EWT-LSTM (Benchmark)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205.698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2468.378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216.75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2601.005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159.114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1909.362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217.527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2610.328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171355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140.196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1682.352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148.469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1781.633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107.294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1287.529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147.218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1766.614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041040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11.204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10.942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11.394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144008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CEEMDAN-EWT-Bi-LSTM  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203.552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2442.623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207.312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2487.747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149.384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1792.609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222.171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2666.052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45742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137.051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1644.613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139.27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1671.239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99.631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1195.575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153.787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1845.441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352479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11.239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11.144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063076"/>
                  </a:ext>
                </a:extLst>
              </a:tr>
              <a:tr h="16969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CEEMDAN-EWT-Transformer</a:t>
                      </a:r>
                    </a:p>
                  </a:txBody>
                  <a:tcPr marL="6840" marR="6840" marT="68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295.626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3547.513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336.074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4032.888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286.151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3433.811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416.765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5001.183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803054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212.008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2544.101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243.377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2920.522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211.082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2532.98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306.991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3683.897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017175"/>
                  </a:ext>
                </a:extLst>
              </a:tr>
              <a:tr h="169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10.823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0.874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10.492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10.88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0.799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9.582</a:t>
                      </a:r>
                    </a:p>
                  </a:txBody>
                  <a:tcPr marL="6840" marR="6840" marT="6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7884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0526E4-8AA3-BD1B-0CA0-960F985114DD}"/>
              </a:ext>
            </a:extLst>
          </p:cNvPr>
          <p:cNvSpPr txBox="1"/>
          <p:nvPr/>
        </p:nvSpPr>
        <p:spPr>
          <a:xfrm>
            <a:off x="246183" y="6286872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Forecasting 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Performance</a:t>
            </a:r>
            <a:r>
              <a:rPr lang="en-US" dirty="0">
                <a:latin typeface="Century Gothic" panose="020B0502020202020204" pitchFamily="34" charset="0"/>
              </a:rPr>
              <a:t> of Different Methods for Varying Input Lengths with a Fixed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1-Hour Horizon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767C05-BF74-FDD9-CD5E-67A77A1BCBD7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220125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2E1A-524E-1004-6387-CB556D30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CB0647-CA39-683D-2D47-5F5ADD66A1CD}"/>
              </a:ext>
            </a:extLst>
          </p:cNvPr>
          <p:cNvSpPr txBox="1"/>
          <p:nvPr/>
        </p:nvSpPr>
        <p:spPr>
          <a:xfrm>
            <a:off x="3352800" y="2222741"/>
            <a:ext cx="8272246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Using CEEMDAN &amp; EWT to preprocess data </a:t>
            </a:r>
            <a:r>
              <a:rPr lang="en-US" sz="2000" b="1" dirty="0">
                <a:latin typeface="Century Gothic" panose="020B0502020202020204" pitchFamily="34" charset="0"/>
              </a:rPr>
              <a:t>significantly boosts forecasting performance</a:t>
            </a:r>
            <a:r>
              <a:rPr lang="en-US" sz="20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</a:t>
            </a:r>
            <a:r>
              <a:rPr lang="en-US" sz="2000" b="1" dirty="0">
                <a:latin typeface="Century Gothic" panose="020B0502020202020204" pitchFamily="34" charset="0"/>
              </a:rPr>
              <a:t>CEEMDAN-EWT-GRU</a:t>
            </a:r>
            <a:r>
              <a:rPr lang="en-US" sz="2000" dirty="0">
                <a:latin typeface="Century Gothic" panose="020B0502020202020204" pitchFamily="34" charset="0"/>
              </a:rPr>
              <a:t> achieves the </a:t>
            </a:r>
            <a:r>
              <a:rPr lang="en-US" sz="2000" b="1" dirty="0">
                <a:latin typeface="Century Gothic" panose="020B0502020202020204" pitchFamily="34" charset="0"/>
              </a:rPr>
              <a:t>best accuracy</a:t>
            </a:r>
            <a:r>
              <a:rPr lang="en-US" sz="2000" dirty="0">
                <a:latin typeface="Century Gothic" panose="020B0502020202020204" pitchFamily="34" charset="0"/>
              </a:rPr>
              <a:t>, </a:t>
            </a:r>
            <a:r>
              <a:rPr lang="en-US" sz="2000" b="1" dirty="0">
                <a:latin typeface="Century Gothic" panose="020B0502020202020204" pitchFamily="34" charset="0"/>
              </a:rPr>
              <a:t>lowest error</a:t>
            </a:r>
            <a:r>
              <a:rPr lang="en-US" sz="2000" dirty="0">
                <a:latin typeface="Century Gothic" panose="020B0502020202020204" pitchFamily="34" charset="0"/>
              </a:rPr>
              <a:t>, and </a:t>
            </a:r>
            <a:r>
              <a:rPr lang="en-US" sz="2000" b="1" dirty="0">
                <a:latin typeface="Century Gothic" panose="020B0502020202020204" pitchFamily="34" charset="0"/>
              </a:rPr>
              <a:t>highest efficiency </a:t>
            </a:r>
            <a:r>
              <a:rPr lang="en-US" sz="2000" dirty="0">
                <a:latin typeface="Century Gothic" panose="020B0502020202020204" pitchFamily="34" charset="0"/>
              </a:rPr>
              <a:t>in all input lengths and forecast horizons.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D22BC-CFA5-268B-4E2C-0BF5E730E7CE}"/>
              </a:ext>
            </a:extLst>
          </p:cNvPr>
          <p:cNvSpPr txBox="1"/>
          <p:nvPr/>
        </p:nvSpPr>
        <p:spPr>
          <a:xfrm>
            <a:off x="771893" y="4090652"/>
            <a:ext cx="2429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Insights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E70540-C1F1-4A26-FE56-BD3A4C3FB6D8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1: Benchmarking the Proposed Method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2645D72-EAA3-3851-E5EA-BAB3B158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101" y="2329231"/>
            <a:ext cx="1644892" cy="164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9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1388-7BC5-865E-D1D2-097F5E8D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A423204-7735-23EA-BD2B-B9D5DA070AB5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6C21C-8439-56B0-BC67-891EF06A90E8}"/>
              </a:ext>
            </a:extLst>
          </p:cNvPr>
          <p:cNvSpPr txBox="1"/>
          <p:nvPr/>
        </p:nvSpPr>
        <p:spPr>
          <a:xfrm>
            <a:off x="1050324" y="1601288"/>
            <a:ext cx="10831015" cy="502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Input-Output Configuration:</a:t>
            </a:r>
            <a:r>
              <a:rPr lang="en-US" sz="1800" dirty="0">
                <a:solidFill>
                  <a:srgbClr val="E78A40"/>
                </a:solidFill>
                <a:latin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The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historical length of 1 hour and the forecast horizon of 10 minutes were chosen because this combination yielded the best performance in Experiment 1.</a:t>
            </a: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Features Considered: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 </a:t>
            </a:r>
            <a:r>
              <a:rPr lang="en-US" sz="1800" dirty="0">
                <a:latin typeface="Century Gothic" panose="020B0502020202020204" pitchFamily="34" charset="0"/>
              </a:rPr>
              <a:t>Wind Power, Wind Speed, Wind Direction, Theoretical Power Curve</a:t>
            </a: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Model Variants Tested:</a:t>
            </a:r>
            <a:endParaRPr lang="en-US" sz="1800" dirty="0">
              <a:solidFill>
                <a:srgbClr val="E78A4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entury Gothic" panose="020B0502020202020204" pitchFamily="34" charset="0"/>
              </a:rPr>
              <a:t>     Proposed (All Features)</a:t>
            </a: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entury Gothic" panose="020B0502020202020204" pitchFamily="34" charset="0"/>
              </a:rPr>
              <a:t>     Proposed (3 Features):</a:t>
            </a:r>
            <a:r>
              <a:rPr lang="en-US" sz="1800" dirty="0">
                <a:latin typeface="Century Gothic" panose="020B0502020202020204" pitchFamily="34" charset="0"/>
              </a:rPr>
              <a:t> Wind Power, Wind Speed, Theoretical Power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sz="1800" b="1" dirty="0">
                <a:latin typeface="Century Gothic" panose="020B0502020202020204" pitchFamily="34" charset="0"/>
              </a:rPr>
              <a:t>Proposed (2 Features):</a:t>
            </a:r>
            <a:r>
              <a:rPr lang="en-US" sz="1800" dirty="0">
                <a:latin typeface="Century Gothic" panose="020B0502020202020204" pitchFamily="34" charset="0"/>
              </a:rPr>
              <a:t> Wind Power + Theoretical Power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</a:t>
            </a:r>
            <a:r>
              <a:rPr lang="en-US" sz="1800" b="1" dirty="0">
                <a:latin typeface="Century Gothic" panose="020B0502020202020204" pitchFamily="34" charset="0"/>
              </a:rPr>
              <a:t>Proposed + MHA (2 Features):</a:t>
            </a:r>
            <a:r>
              <a:rPr lang="en-US" sz="1800" dirty="0">
                <a:latin typeface="Century Gothic" panose="020B0502020202020204" pitchFamily="34" charset="0"/>
              </a:rPr>
              <a:t> GRU enhanced with Multi-Head Attention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7DC640-821F-95CE-8188-1747F79CE5CA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2: Effect of Meteorological Features on Forecasting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31584FE-CB84-3798-FAF0-F4460887BC0D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6306A756-AED1-7072-AB36-BDB4EDF8924D}"/>
              </a:ext>
            </a:extLst>
          </p:cNvPr>
          <p:cNvSpPr/>
          <p:nvPr/>
        </p:nvSpPr>
        <p:spPr>
          <a:xfrm rot="5400000">
            <a:off x="613114" y="1781352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1C776B2E-755F-A125-3FA1-8D0FD83550E9}"/>
              </a:ext>
            </a:extLst>
          </p:cNvPr>
          <p:cNvSpPr/>
          <p:nvPr/>
        </p:nvSpPr>
        <p:spPr>
          <a:xfrm rot="5400000">
            <a:off x="613113" y="3028710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0F74EDB4-8097-4C6A-57EA-EE176BEFDEA3}"/>
              </a:ext>
            </a:extLst>
          </p:cNvPr>
          <p:cNvSpPr/>
          <p:nvPr/>
        </p:nvSpPr>
        <p:spPr>
          <a:xfrm rot="5400000">
            <a:off x="613113" y="3842753"/>
            <a:ext cx="186922" cy="161139"/>
          </a:xfrm>
          <a:prstGeom prst="triangle">
            <a:avLst/>
          </a:prstGeom>
          <a:solidFill>
            <a:srgbClr val="E78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7669E5-B274-794B-38DF-29E70F434EF0}"/>
              </a:ext>
            </a:extLst>
          </p:cNvPr>
          <p:cNvCxnSpPr>
            <a:cxnSpLocks/>
          </p:cNvCxnSpPr>
          <p:nvPr/>
        </p:nvCxnSpPr>
        <p:spPr>
          <a:xfrm>
            <a:off x="1159509" y="4257654"/>
            <a:ext cx="0" cy="14511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27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D21A-5933-F749-ACA0-06A801D7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46C07EA-1DD1-79D5-F5CC-CD994DD7C216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5D9E98A8-8619-78D5-A94E-A43D8FD8F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662386"/>
              </p:ext>
            </p:extLst>
          </p:nvPr>
        </p:nvGraphicFramePr>
        <p:xfrm>
          <a:off x="375373" y="1630941"/>
          <a:ext cx="11474760" cy="3333376"/>
        </p:xfrm>
        <a:graphic>
          <a:graphicData uri="http://schemas.openxmlformats.org/drawingml/2006/table">
            <a:tbl>
              <a:tblPr/>
              <a:tblGrid>
                <a:gridCol w="3046470">
                  <a:extLst>
                    <a:ext uri="{9D8B030D-6E8A-4147-A177-3AD203B41FA5}">
                      <a16:colId xmlns:a16="http://schemas.microsoft.com/office/drawing/2014/main" val="790397658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1779636281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724140132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4206398469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3558914744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2937263686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1448537593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584205057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49626418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1915308693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2370121059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3153512336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2335286149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2369503818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1285354089"/>
                    </a:ext>
                  </a:extLst>
                </a:gridCol>
                <a:gridCol w="561886">
                  <a:extLst>
                    <a:ext uri="{9D8B030D-6E8A-4147-A177-3AD203B41FA5}">
                      <a16:colId xmlns:a16="http://schemas.microsoft.com/office/drawing/2014/main" val="4032066610"/>
                    </a:ext>
                  </a:extLst>
                </a:gridCol>
              </a:tblGrid>
              <a:tr h="208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March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August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Sept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838629"/>
                  </a:ext>
                </a:extLst>
              </a:tr>
              <a:tr h="208336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Method)</a:t>
                      </a:r>
                    </a:p>
                  </a:txBody>
                  <a:tcPr marL="8048" marR="8048" marT="80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159.848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104.645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115.854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65.954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120.018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129.677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44.944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80.535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96.789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64.776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85.281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36.311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1104.632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841810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113.258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62.112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67.037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41.752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81.743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94.476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25.51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54.866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70.223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45.104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40.109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21.787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59.831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717.977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19725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11.863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054991"/>
                  </a:ext>
                </a:extLst>
              </a:tr>
              <a:tr h="208336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 - All Feature)</a:t>
                      </a:r>
                    </a:p>
                  </a:txBody>
                  <a:tcPr marL="8048" marR="8048" marT="80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220.351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414.72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1491.743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679.698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1131.281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1176.162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211.185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1259.943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1413.096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1107.175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1988.602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379.871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956.152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11473.83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01703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104.315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282.335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1188.315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520.971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1069.743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1073.969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129.809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1019.686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1311.468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931.744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1918.187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141.817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807.697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9692.359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366768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-0.496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-0.439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-0.272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-0.257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-0.238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-3.176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-0.114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15231"/>
                  </a:ext>
                </a:extLst>
              </a:tr>
              <a:tr h="208336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 - 3 Feature) </a:t>
                      </a:r>
                    </a:p>
                  </a:txBody>
                  <a:tcPr marL="8048" marR="8048" marT="80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285.518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390.225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1485.191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695.611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1129.929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1198.496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201.165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1233.679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1452.335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1156.259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2048.36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377.559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971.194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11654.33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73423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174.101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266.761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1183.502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530.815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1068.44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1092.821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125.434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1002.032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1346.041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968.972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1976.164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141.306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823.032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9876.389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38887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-0.492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-0.328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-3.431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-1.319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777898"/>
                  </a:ext>
                </a:extLst>
              </a:tr>
              <a:tr h="208336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 - 2 Feature) </a:t>
                      </a:r>
                    </a:p>
                  </a:txBody>
                  <a:tcPr marL="8048" marR="8048" marT="80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212.009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163.802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186.19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92.857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191.646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180.967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71.852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100.883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153.447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126.395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120.295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84.537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140.407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1684.88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052351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82.71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104.13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111.074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58.194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127.486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127.681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48.117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66.742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108.805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85.062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55.376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53.457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85.736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1028.834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80458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438995"/>
                  </a:ext>
                </a:extLst>
              </a:tr>
              <a:tr h="208336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CEEDMAN-EWT-GRU-MHA (2 Feature)</a:t>
                      </a:r>
                    </a:p>
                  </a:txBody>
                  <a:tcPr marL="8048" marR="8048" marT="80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271.12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414.595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1506.232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792.722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1174.452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1260.331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229.526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1302.368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2052.557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1090.491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2069.477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395.905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1046.648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12559.78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075496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179.773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281.311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1197.858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588.59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1105.397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1143.351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135.803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1047.421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1803.873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917.705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1996.327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145.228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878.553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10542.64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345233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0.855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0.884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-0.101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-0.612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-0.653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-0.359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-1.653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0.261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-3.523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0.237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-0.276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-3.308</a:t>
                      </a:r>
                    </a:p>
                  </a:txBody>
                  <a:tcPr marL="8048" marR="8048" marT="804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08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DFD022-8A10-D111-F428-15C198C878A1}"/>
              </a:ext>
            </a:extLst>
          </p:cNvPr>
          <p:cNvSpPr txBox="1"/>
          <p:nvPr/>
        </p:nvSpPr>
        <p:spPr>
          <a:xfrm>
            <a:off x="0" y="5074848"/>
            <a:ext cx="12192000" cy="8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Forecasting 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Performance</a:t>
            </a:r>
            <a:r>
              <a:rPr lang="en-US" dirty="0">
                <a:latin typeface="Century Gothic" panose="020B0502020202020204" pitchFamily="34" charset="0"/>
              </a:rPr>
              <a:t> of the Proposed Method with Varying Feature Counts for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1-Hour</a:t>
            </a:r>
            <a:r>
              <a:rPr lang="en-US" dirty="0">
                <a:latin typeface="Century Gothic" panose="020B0502020202020204" pitchFamily="34" charset="0"/>
              </a:rPr>
              <a:t> Input Length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and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10-Minute</a:t>
            </a:r>
            <a:r>
              <a:rPr lang="en-US" dirty="0">
                <a:latin typeface="Century Gothic" panose="020B0502020202020204" pitchFamily="34" charset="0"/>
              </a:rPr>
              <a:t> Forecasting Horizon.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687AF8-E456-C9CE-8B17-2C1B7F4993A3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2: Effect of Meteorological Features on Forecasting</a:t>
            </a:r>
          </a:p>
        </p:txBody>
      </p:sp>
    </p:spTree>
    <p:extLst>
      <p:ext uri="{BB962C8B-B14F-4D97-AF65-F5344CB8AC3E}">
        <p14:creationId xmlns:p14="http://schemas.microsoft.com/office/powerpoint/2010/main" val="20174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0E55-7528-CEDA-A3F6-0D69EEFC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FC659C-5C1A-D1E9-5391-D6A1D752C4BD}"/>
              </a:ext>
            </a:extLst>
          </p:cNvPr>
          <p:cNvSpPr txBox="1"/>
          <p:nvPr/>
        </p:nvSpPr>
        <p:spPr>
          <a:xfrm>
            <a:off x="3352800" y="2210201"/>
            <a:ext cx="8272246" cy="234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CEEMDAN-EWT-GRU is most effective when used with </a:t>
            </a:r>
            <a:r>
              <a:rPr lang="en-US" sz="2000" b="1" dirty="0">
                <a:latin typeface="Century Gothic" panose="020B0502020202020204" pitchFamily="34" charset="0"/>
              </a:rPr>
              <a:t>a single, well-targeted feature</a:t>
            </a:r>
            <a:r>
              <a:rPr lang="en-US" sz="2000" dirty="0"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Multi-feature setups introduce </a:t>
            </a:r>
            <a:r>
              <a:rPr lang="en-US" sz="2000" b="1" dirty="0">
                <a:latin typeface="Century Gothic" panose="020B0502020202020204" pitchFamily="34" charset="0"/>
              </a:rPr>
              <a:t>decomposition mismatches</a:t>
            </a:r>
            <a:r>
              <a:rPr lang="en-US" sz="2000" dirty="0">
                <a:latin typeface="Century Gothic" panose="020B0502020202020204" pitchFamily="34" charset="0"/>
              </a:rPr>
              <a:t>, reducing accuracy and model stability.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73002-1971-B582-BD10-1E4172889CD0}"/>
              </a:ext>
            </a:extLst>
          </p:cNvPr>
          <p:cNvSpPr txBox="1"/>
          <p:nvPr/>
        </p:nvSpPr>
        <p:spPr>
          <a:xfrm>
            <a:off x="771893" y="4090652"/>
            <a:ext cx="2429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Insights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E31D649-20AB-297A-B5DE-5CC429A0F1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101" y="2329231"/>
            <a:ext cx="1644892" cy="1644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BBC7F1-7244-5392-7207-631667AF97B2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2: Effect of Meteorological Features on Forecasting</a:t>
            </a:r>
          </a:p>
        </p:txBody>
      </p:sp>
    </p:spTree>
    <p:extLst>
      <p:ext uri="{BB962C8B-B14F-4D97-AF65-F5344CB8AC3E}">
        <p14:creationId xmlns:p14="http://schemas.microsoft.com/office/powerpoint/2010/main" val="426999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363F-513F-1874-27B9-A2D5E2EC1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5123400-E1C8-8ACA-1522-CAC1BAAE6B17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EF05E7-D618-9FB3-7ABE-811CDB269DD8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2A8D4-6AC9-FE9C-C593-144294163807}"/>
              </a:ext>
            </a:extLst>
          </p:cNvPr>
          <p:cNvSpPr txBox="1"/>
          <p:nvPr/>
        </p:nvSpPr>
        <p:spPr>
          <a:xfrm>
            <a:off x="1264507" y="5318740"/>
            <a:ext cx="9662984" cy="870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The </a:t>
            </a:r>
            <a:r>
              <a:rPr lang="en-US" dirty="0">
                <a:latin typeface="Century Gothic" panose="020B0502020202020204" pitchFamily="34" charset="0"/>
              </a:rPr>
              <a:t>framework of hybrid GRU-</a:t>
            </a:r>
            <a:r>
              <a:rPr lang="en-US" dirty="0" err="1">
                <a:latin typeface="Century Gothic" panose="020B0502020202020204" pitchFamily="34" charset="0"/>
              </a:rPr>
              <a:t>BiLSTM</a:t>
            </a:r>
            <a:r>
              <a:rPr lang="en-US" dirty="0">
                <a:latin typeface="Century Gothic" panose="020B0502020202020204" pitchFamily="34" charset="0"/>
              </a:rPr>
              <a:t> based on frequency decomposition. </a:t>
            </a:r>
          </a:p>
          <a:p>
            <a:pPr algn="ctr">
              <a:lnSpc>
                <a:spcPct val="150000"/>
              </a:lnSpc>
            </a:pPr>
            <a:r>
              <a:rPr lang="en-US" dirty="0" err="1">
                <a:latin typeface="Century Gothic" panose="020B0502020202020204" pitchFamily="34" charset="0"/>
              </a:rPr>
              <a:t>Inspried</a:t>
            </a:r>
            <a:r>
              <a:rPr lang="en-US" dirty="0">
                <a:latin typeface="Century Gothic" panose="020B0502020202020204" pitchFamily="34" charset="0"/>
              </a:rPr>
              <a:t> by the</a:t>
            </a:r>
            <a:r>
              <a:rPr lang="en-US" sz="1800" dirty="0">
                <a:latin typeface="Century Gothic" panose="020B0502020202020204" pitchFamily="34" charset="0"/>
              </a:rPr>
              <a:t> framework proposed in [38]</a:t>
            </a:r>
            <a:endParaRPr lang="en-VN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BF4D2-9412-F75A-255F-F576E7FA894D}"/>
              </a:ext>
            </a:extLst>
          </p:cNvPr>
          <p:cNvSpPr txBox="1"/>
          <p:nvPr/>
        </p:nvSpPr>
        <p:spPr>
          <a:xfrm>
            <a:off x="0" y="637691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200" dirty="0">
                <a:latin typeface="Century Gothic" panose="020B0502020202020204" pitchFamily="34" charset="0"/>
              </a:rPr>
              <a:t>[38] Zhao, Jiwei and Nie, Guangzheng and Yan, Meng and Wang, Yaowen and Wang, Luyao. A novel approach to precipitation prediction using a coupled CEEMDAN-GRU-Transformer model with permutation entropy algorithm. Water Science &amp; Technology, 88(4):1015-1038, 2023.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EF54EBDD-DE37-5AA0-F237-6C22FFB1E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09" y="1287673"/>
            <a:ext cx="10445380" cy="38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C038-4C34-8CC5-79CD-CBFA7F52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987F78A-56CA-0EC1-AF14-61042C8012C1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5AD9C0E-64ED-9E7E-4369-78F42C820671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3">
                <a:extLst>
                  <a:ext uri="{FF2B5EF4-FFF2-40B4-BE49-F238E27FC236}">
                    <a16:creationId xmlns:a16="http://schemas.microsoft.com/office/drawing/2014/main" id="{26F94ED1-C36C-1A38-4E49-044D2A6BC1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123" y="2248929"/>
                <a:ext cx="10973752" cy="429236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latin typeface="Century Gothic" panose="020B0502020202020204" pitchFamily="34" charset="0"/>
                  </a:rPr>
                  <a:t>The </a:t>
                </a:r>
                <a:r>
                  <a:rPr lang="en-US" sz="1800" b="1" dirty="0">
                    <a:solidFill>
                      <a:srgbClr val="1D4999"/>
                    </a:solidFill>
                    <a:latin typeface="Century Gothic" panose="020B0502020202020204" pitchFamily="34" charset="0"/>
                  </a:rPr>
                  <a:t>Permutation Entropy (PE)</a:t>
                </a:r>
                <a:r>
                  <a:rPr lang="en-US" sz="1800" dirty="0">
                    <a:solidFill>
                      <a:srgbClr val="1D4999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sz="1800" dirty="0">
                    <a:latin typeface="Century Gothic" panose="020B0502020202020204" pitchFamily="34" charset="0"/>
                  </a:rPr>
                  <a:t>for an Intrinsic Mode Function (IMF) is given by: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dirty="0">
                  <a:latin typeface="Century Gothic" panose="020B050202020202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dirty="0">
                  <a:latin typeface="Century Gothic" panose="020B0502020202020204" pitchFamily="34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sz="1800" b="1" dirty="0">
                    <a:solidFill>
                      <a:srgbClr val="1D4999"/>
                    </a:solidFill>
                    <a:latin typeface="Century Gothic" panose="020B0502020202020204" pitchFamily="34" charset="0"/>
                  </a:rPr>
                  <a:t>Normalize</a:t>
                </a:r>
                <a:r>
                  <a:rPr lang="en-US" sz="1800" dirty="0">
                    <a:latin typeface="Century Gothic" panose="020B0502020202020204" pitchFamily="34" charset="0"/>
                  </a:rPr>
                  <a:t> the entropy: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sz="1800" dirty="0">
                  <a:latin typeface="Century Gothic" panose="020B0502020202020204" pitchFamily="34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endParaRPr lang="en-US" sz="1800" dirty="0">
                  <a:latin typeface="Century Gothic" panose="020B0502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sz="1800" b="1" dirty="0">
                    <a:solidFill>
                      <a:srgbClr val="1D4999"/>
                    </a:solidFill>
                    <a:latin typeface="Century Gothic" panose="020B0502020202020204" pitchFamily="34" charset="0"/>
                  </a:rPr>
                  <a:t>Classification rule</a:t>
                </a:r>
                <a:r>
                  <a:rPr lang="en-US" sz="1800" dirty="0">
                    <a:latin typeface="Century Gothic" panose="020B0502020202020204" pitchFamily="34" charset="0"/>
                  </a:rPr>
                  <a:t>:</a:t>
                </a:r>
              </a:p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sz="1800" dirty="0">
                    <a:latin typeface="Century Gothic" panose="020B0502020202020204" pitchFamily="34" charset="0"/>
                  </a:rPr>
                  <a:t>If</a:t>
                </a:r>
                <a:r>
                  <a:rPr lang="en-US" sz="1800" b="1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vi-VN" sz="1800" b="1" i="0"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d>
                      <m:dPr>
                        <m:ctrlPr>
                          <a:rPr lang="vi-VN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1800" b="1" i="0"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</m:d>
                  </m:oMath>
                </a14:m>
                <a:r>
                  <a:rPr lang="en-US" sz="1800" b="1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b="1" dirty="0">
                    <a:latin typeface="Century Gothic" panose="020B0502020202020204" pitchFamily="34" charset="0"/>
                  </a:rPr>
                  <a:t> 0.45 </a:t>
                </a:r>
                <a:r>
                  <a:rPr lang="en-US" sz="1800" dirty="0">
                    <a:latin typeface="Century Gothic" panose="020B0502020202020204" pitchFamily="34" charset="0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IMF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High</m:t>
                    </m:r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Frequency</m:t>
                    </m:r>
                  </m:oMath>
                </a14:m>
                <a:endParaRPr lang="en-US" sz="1800" dirty="0">
                  <a:latin typeface="Century Gothic" panose="020B0502020202020204" pitchFamily="34" charset="0"/>
                </a:endParaRPr>
              </a:p>
              <a:p>
                <a:pPr algn="ctr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Century Gothic" panose="020B0502020202020204" pitchFamily="34" charset="0"/>
                  </a:rPr>
                  <a:t>If</a:t>
                </a:r>
                <a:r>
                  <a:rPr lang="en-US" sz="1800" b="1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vi-VN" sz="1800" b="1" i="0"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d>
                      <m:dPr>
                        <m:ctrlPr>
                          <a:rPr lang="vi-VN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1800" b="1" i="0"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</m:d>
                  </m:oMath>
                </a14:m>
                <a:r>
                  <a:rPr lang="en-US" sz="1800" b="1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800" dirty="0">
                    <a:latin typeface="Century Gothic" panose="020B0502020202020204" pitchFamily="34" charset="0"/>
                  </a:rPr>
                  <a:t> </a:t>
                </a:r>
                <a:r>
                  <a:rPr lang="en-US" sz="1800" b="1" dirty="0">
                    <a:latin typeface="Century Gothic" panose="020B0502020202020204" pitchFamily="34" charset="0"/>
                  </a:rPr>
                  <a:t>0.45 </a:t>
                </a:r>
                <a:r>
                  <a:rPr lang="en-US" sz="1800" dirty="0">
                    <a:latin typeface="Century Gothic" panose="020B0502020202020204" pitchFamily="34" charset="0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IMF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Low</m:t>
                    </m:r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Frequency</m:t>
                    </m:r>
                  </m:oMath>
                </a14:m>
                <a:endParaRPr lang="en-US" sz="1800" dirty="0">
                  <a:latin typeface="Century Gothic" panose="020B0502020202020204" pitchFamily="34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endParaRPr lang="en-US" sz="18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6" name="Content Placeholder 3">
                <a:extLst>
                  <a:ext uri="{FF2B5EF4-FFF2-40B4-BE49-F238E27FC236}">
                    <a16:creationId xmlns:a16="http://schemas.microsoft.com/office/drawing/2014/main" id="{26F94ED1-C36C-1A38-4E49-044D2A6BC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23" y="2248929"/>
                <a:ext cx="10973752" cy="4292369"/>
              </a:xfrm>
              <a:prstGeom prst="rect">
                <a:avLst/>
              </a:prstGeom>
              <a:blipFill>
                <a:blip r:embed="rId3"/>
                <a:stretch>
                  <a:fillRect l="-462" t="-17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FF3656-B988-E3E6-9FC9-FA825027A729}"/>
                  </a:ext>
                </a:extLst>
              </p:cNvPr>
              <p:cNvSpPr txBox="1"/>
              <p:nvPr/>
            </p:nvSpPr>
            <p:spPr>
              <a:xfrm>
                <a:off x="3047047" y="2725356"/>
                <a:ext cx="6097904" cy="690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FF3656-B988-E3E6-9FC9-FA825027A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7" y="2725356"/>
                <a:ext cx="6097904" cy="690574"/>
              </a:xfrm>
              <a:prstGeom prst="rect">
                <a:avLst/>
              </a:prstGeom>
              <a:blipFill>
                <a:blip r:embed="rId4"/>
                <a:stretch>
                  <a:fillRect t="-134545" b="-20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C17F5-72A3-58B1-48D5-0466C002BBE7}"/>
                  </a:ext>
                </a:extLst>
              </p:cNvPr>
              <p:cNvSpPr txBox="1"/>
              <p:nvPr/>
            </p:nvSpPr>
            <p:spPr>
              <a:xfrm>
                <a:off x="3047047" y="3736502"/>
                <a:ext cx="6097904" cy="678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5C17F5-72A3-58B1-48D5-0466C002B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7" y="3736502"/>
                <a:ext cx="6097904" cy="678455"/>
              </a:xfrm>
              <a:prstGeom prst="rect">
                <a:avLst/>
              </a:prstGeom>
              <a:blipFill>
                <a:blip r:embed="rId5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08A051E-74CA-7B5E-ECD3-ACAD597DB918}"/>
              </a:ext>
            </a:extLst>
          </p:cNvPr>
          <p:cNvSpPr txBox="1"/>
          <p:nvPr/>
        </p:nvSpPr>
        <p:spPr>
          <a:xfrm>
            <a:off x="0" y="1012993"/>
            <a:ext cx="12191998" cy="575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Permutation Entropy (PE)</a:t>
            </a:r>
            <a:endParaRPr lang="en-VN" sz="2400" dirty="0">
              <a:solidFill>
                <a:srgbClr val="E78A4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90BF-71EB-AD33-D62F-527D9F38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F15E8A-B91A-9CDF-857E-BBDC112E730B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6ABC2F-17B9-EF4F-A421-1F2103BBEDBD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F3A119EB-6916-93AD-70DA-A6A8BAD5C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940615"/>
              </p:ext>
            </p:extLst>
          </p:nvPr>
        </p:nvGraphicFramePr>
        <p:xfrm>
          <a:off x="435429" y="1825782"/>
          <a:ext cx="11248572" cy="3153840"/>
        </p:xfrm>
        <a:graphic>
          <a:graphicData uri="http://schemas.openxmlformats.org/drawingml/2006/table">
            <a:tbl>
              <a:tblPr/>
              <a:tblGrid>
                <a:gridCol w="2445342">
                  <a:extLst>
                    <a:ext uri="{9D8B030D-6E8A-4147-A177-3AD203B41FA5}">
                      <a16:colId xmlns:a16="http://schemas.microsoft.com/office/drawing/2014/main" val="4213149976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2357751657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995227306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382805319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4151703581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857030675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956415984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335177824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2234182565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551013126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3349514273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686615000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912438805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874422453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1106705933"/>
                    </a:ext>
                  </a:extLst>
                </a:gridCol>
                <a:gridCol w="586882">
                  <a:extLst>
                    <a:ext uri="{9D8B030D-6E8A-4147-A177-3AD203B41FA5}">
                      <a16:colId xmlns:a16="http://schemas.microsoft.com/office/drawing/2014/main" val="2698103711"/>
                    </a:ext>
                  </a:extLst>
                </a:gridCol>
              </a:tblGrid>
              <a:tr h="1855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Jan 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March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June 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August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Sept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 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140231"/>
                  </a:ext>
                </a:extLst>
              </a:tr>
              <a:tr h="18552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Method)</a:t>
                      </a:r>
                    </a:p>
                  </a:txBody>
                  <a:tcPr marL="8573" marR="8573" marT="85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159.848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104.645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115.854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65.954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120.018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129.677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44.944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80.535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96.789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64.776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85.281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36.311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1104.632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942792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113.258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62.112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67.037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41.752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81.743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94.476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25.51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54.866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70.223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45.104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40.109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21.787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59.831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717.977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23939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11.863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21859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9.559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7.226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4.356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7.874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2.924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5.314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6.298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4.367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6.077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6.053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72.634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689660"/>
                  </a:ext>
                </a:extLst>
              </a:tr>
              <a:tr h="18552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CEEDMAN-EWT-Bi-LSTM </a:t>
                      </a:r>
                    </a:p>
                  </a:txBody>
                  <a:tcPr marL="8573" marR="8573" marT="85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185.342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115.757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125.428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67.587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125.268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133.228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46.435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84.128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143.651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74.643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86.547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107.076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107.924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1295.09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7608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127.545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73.032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76.937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44.338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84.239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97.899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28.391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61.664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114.453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55.023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41.815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81.333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73.889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886.669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328556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11.781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762335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11.196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8.008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8.238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4.464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8.219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8.972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2.942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5.369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7.424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5.071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6.169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5.329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81.401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57305"/>
                  </a:ext>
                </a:extLst>
              </a:tr>
              <a:tr h="18552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CEEDMAN-EWT-GRU-Bi-LSTM</a:t>
                      </a:r>
                    </a:p>
                  </a:txBody>
                  <a:tcPr marL="8573" marR="8573" marT="85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128.312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112.318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126.333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67.041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120.39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130.45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45.165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81.961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144.624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75.907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86.881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71.282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99.222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1190.664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172701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73.786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70.774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78.193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43.143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81.953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95.362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58.272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114.716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55.226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43.048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53.429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66.146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793.752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95922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46916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8.762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7.743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8.314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4.468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7.921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8.805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7.506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4.808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6.375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76.498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704337"/>
                  </a:ext>
                </a:extLst>
              </a:tr>
              <a:tr h="18552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CEEDMAN-EWT-LSTM (Benchmark) </a:t>
                      </a:r>
                    </a:p>
                  </a:txBody>
                  <a:tcPr marL="8573" marR="8573" marT="85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202.458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108.26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121.099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67.965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124.621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132.089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45.811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81.868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151.252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72.272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36.726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102.397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1228.759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174329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146.862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68.415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70.416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42.866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84.172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97.61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26.578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56.907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120.283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52.647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42.483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22.549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69.316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831.788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958337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0.986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11.82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51281"/>
                  </a:ext>
                </a:extLst>
              </a:tr>
              <a:tr h="185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11.404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7.414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7.937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4.549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8.155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8.915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5.363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7.775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4.859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6.475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77.7</a:t>
                      </a:r>
                    </a:p>
                  </a:txBody>
                  <a:tcPr marL="8573" marR="8573" marT="85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1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530816-79DC-CF2B-6F06-B794CFAEF9E6}"/>
              </a:ext>
            </a:extLst>
          </p:cNvPr>
          <p:cNvSpPr txBox="1"/>
          <p:nvPr/>
        </p:nvSpPr>
        <p:spPr>
          <a:xfrm>
            <a:off x="246184" y="5119807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Performance of Hybrid Methods for the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1-Hour </a:t>
            </a:r>
            <a:r>
              <a:rPr lang="en-US" dirty="0">
                <a:latin typeface="Century Gothic" panose="020B0502020202020204" pitchFamily="34" charset="0"/>
              </a:rPr>
              <a:t>Input Length and the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10-Minute </a:t>
            </a:r>
            <a:r>
              <a:rPr lang="en-US" dirty="0">
                <a:latin typeface="Century Gothic" panose="020B0502020202020204" pitchFamily="34" charset="0"/>
              </a:rPr>
              <a:t>Forecasting Horizon.</a:t>
            </a:r>
          </a:p>
        </p:txBody>
      </p:sp>
    </p:spTree>
    <p:extLst>
      <p:ext uri="{BB962C8B-B14F-4D97-AF65-F5344CB8AC3E}">
        <p14:creationId xmlns:p14="http://schemas.microsoft.com/office/powerpoint/2010/main" val="23331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BCE5-7866-448C-07BE-11F35526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185F29F-F873-8BE1-7139-74412B9D676C}"/>
              </a:ext>
            </a:extLst>
          </p:cNvPr>
          <p:cNvSpPr txBox="1">
            <a:spLocks/>
          </p:cNvSpPr>
          <p:nvPr/>
        </p:nvSpPr>
        <p:spPr>
          <a:xfrm>
            <a:off x="1" y="-2"/>
            <a:ext cx="12191999" cy="726833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34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D7E26D-65BD-9F4C-08BB-744947106B10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C5E8C-5129-1E96-6256-0457D5FD57C0}"/>
              </a:ext>
            </a:extLst>
          </p:cNvPr>
          <p:cNvSpPr txBox="1"/>
          <p:nvPr/>
        </p:nvSpPr>
        <p:spPr>
          <a:xfrm>
            <a:off x="246183" y="6286872"/>
            <a:ext cx="1169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Comparison of Performance Between the Hybrid Method &amp; Proposed Method Across </a:t>
            </a:r>
            <a:r>
              <a:rPr lang="en-US" b="1" dirty="0">
                <a:solidFill>
                  <a:srgbClr val="E78A40"/>
                </a:solidFill>
                <a:latin typeface="Century Gothic" panose="020B0502020202020204" pitchFamily="34" charset="0"/>
              </a:rPr>
              <a:t>All Time Horizons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F44B1B-4E8C-0C28-BE98-42965DE2DA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810568"/>
              </p:ext>
            </p:extLst>
          </p:nvPr>
        </p:nvGraphicFramePr>
        <p:xfrm>
          <a:off x="471711" y="1055139"/>
          <a:ext cx="11248574" cy="5074368"/>
        </p:xfrm>
        <a:graphic>
          <a:graphicData uri="http://schemas.openxmlformats.org/drawingml/2006/table">
            <a:tbl>
              <a:tblPr/>
              <a:tblGrid>
                <a:gridCol w="3559676">
                  <a:extLst>
                    <a:ext uri="{9D8B030D-6E8A-4147-A177-3AD203B41FA5}">
                      <a16:colId xmlns:a16="http://schemas.microsoft.com/office/drawing/2014/main" val="1478737846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2300245844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1120679134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539821927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824786962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149155555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3901413987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518037644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1110225320"/>
                    </a:ext>
                  </a:extLst>
                </a:gridCol>
                <a:gridCol w="854322">
                  <a:extLst>
                    <a:ext uri="{9D8B030D-6E8A-4147-A177-3AD203B41FA5}">
                      <a16:colId xmlns:a16="http://schemas.microsoft.com/office/drawing/2014/main" val="4281665368"/>
                    </a:ext>
                  </a:extLst>
                </a:gridCol>
              </a:tblGrid>
              <a:tr h="14659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140284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310304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CEEDMAN-EWT-GRU (Proposed Method)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1104.632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95.485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1145.823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94.319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1131.832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93.716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1124.59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12527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59.831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717.977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63.54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762.48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63.108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757.295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61.491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737.893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376278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11.863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11.821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284825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CEEDMAN-EWT-GRU-Bi-LSTM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99.222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1190.664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98.532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1182.378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106.729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1280.746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106.049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1272.591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363533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66.146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793.752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66.674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800.091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73.404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880.853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73.297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879.565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830425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11.707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11.789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64130"/>
                  </a:ext>
                </a:extLst>
              </a:tr>
              <a:tr h="14659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- 20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6780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51651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CEEDMAN-EWT-GRU (Proposed Method)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124.536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1494.432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118.795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1425.542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114.656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1375.873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114.426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1373.115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505335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80.137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961.648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76.893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922.714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71.414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856.967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72.315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867.777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117254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11.696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11.738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11.764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11.772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420928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CEEDMAN-EWT-GRU-Bi-LSTM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138.915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1666.982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126.096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1513.157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138.688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1664.256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138.124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1657.489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369926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93.401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1120.81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84.871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1018.449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96.105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1153.265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93.199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1118.386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91777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11.604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11.679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11.521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11.584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69726"/>
                  </a:ext>
                </a:extLst>
              </a:tr>
              <a:tr h="14659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</a:t>
                      </a:r>
                    </a:p>
                  </a:txBody>
                  <a:tcPr marL="6174" marR="6174" marT="6174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- 30 min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20990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606150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CEEDMAN-EWT-GRU (Proposed Method)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139.198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1670.371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136.844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1642.126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132.036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1584.437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137.381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1648.574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619581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89.05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1068.605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88.694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1064.327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1012.067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88.542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1062.503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0535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076402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CEEDMAN-EWT-GRU-Bi-LSTM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161.839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1942.069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146.122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1753.464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148.782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1785.378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162.457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1949.484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510398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111.592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1339.103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97.811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1173.726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99.895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1198.738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110.318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1323.821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486789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11.458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11.523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11.487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11.424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889547"/>
                  </a:ext>
                </a:extLst>
              </a:tr>
              <a:tr h="14659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  Model 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Metrics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D4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4" marR="6174" marT="6174" marB="0" anchor="b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- 1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10707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08799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 (Proposed Method)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188.074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2256.891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182.877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2194.526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132.036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1584.437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181.742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2180.905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572871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121.369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1456.425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117.507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1410.087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84.339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1012.067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116.222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1394.665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685727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11.408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11.424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11.494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40318"/>
                  </a:ext>
                </a:extLst>
              </a:tr>
              <a:tr h="146595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CEEDMAN-EWT-GRU-Bi-LSTM</a:t>
                      </a:r>
                    </a:p>
                  </a:txBody>
                  <a:tcPr marL="6174" marR="6174" marT="61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RSME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197.182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2366.188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192.179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2306.142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196.204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2354.444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212.666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2551.994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1388"/>
                  </a:ext>
                </a:extLst>
              </a:tr>
              <a:tr h="951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132.114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1585.368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127.568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1530.821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131.663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1579.961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142.97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1715.64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31199"/>
                  </a:ext>
                </a:extLst>
              </a:tr>
              <a:tr h="146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11.302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11.304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0.935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11.217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0.934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11.208</a:t>
                      </a:r>
                    </a:p>
                  </a:txBody>
                  <a:tcPr marL="6174" marR="6174" marT="61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692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2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B592D-AAB7-C278-D698-D3AF5780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958E53D-3408-2662-62D4-3FC1ED3511E8}"/>
              </a:ext>
            </a:extLst>
          </p:cNvPr>
          <p:cNvSpPr txBox="1"/>
          <p:nvPr/>
        </p:nvSpPr>
        <p:spPr>
          <a:xfrm>
            <a:off x="3469339" y="2102625"/>
            <a:ext cx="8272246" cy="3265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The proposed CEEMDAN-EWT-GRU framework consistently </a:t>
            </a:r>
            <a:r>
              <a:rPr lang="en-US" sz="2000" b="1" dirty="0">
                <a:latin typeface="Century Gothic" panose="020B0502020202020204" pitchFamily="34" charset="0"/>
              </a:rPr>
              <a:t>outperforms the hybrid method across all forecast horizons.</a:t>
            </a: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The hybrid GRU-</a:t>
            </a:r>
            <a:r>
              <a:rPr lang="en-US" sz="2000" dirty="0" err="1">
                <a:latin typeface="Century Gothic" panose="020B0502020202020204" pitchFamily="34" charset="0"/>
              </a:rPr>
              <a:t>BiLSTM</a:t>
            </a:r>
            <a:r>
              <a:rPr lang="en-US" sz="2000" dirty="0">
                <a:latin typeface="Century Gothic" panose="020B0502020202020204" pitchFamily="34" charset="0"/>
              </a:rPr>
              <a:t> framework adds complexity, does </a:t>
            </a:r>
            <a:br>
              <a:rPr lang="en-US" sz="2000" dirty="0">
                <a:latin typeface="Century Gothic" panose="020B0502020202020204" pitchFamily="34" charset="0"/>
              </a:rPr>
            </a:br>
            <a:r>
              <a:rPr lang="en-US" sz="2000" dirty="0">
                <a:latin typeface="Century Gothic" panose="020B0502020202020204" pitchFamily="34" charset="0"/>
              </a:rPr>
              <a:t>not improve accuracy and GRU alone is more stable, </a:t>
            </a:r>
            <a:br>
              <a:rPr lang="en-US" sz="2000" dirty="0">
                <a:latin typeface="Century Gothic" panose="020B0502020202020204" pitchFamily="34" charset="0"/>
              </a:rPr>
            </a:br>
            <a:r>
              <a:rPr lang="en-US" sz="2000" dirty="0">
                <a:latin typeface="Century Gothic" panose="020B0502020202020204" pitchFamily="34" charset="0"/>
              </a:rPr>
              <a:t>especially for high-frequency components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52F28-0ADD-3C38-D31E-667C585EAD21}"/>
              </a:ext>
            </a:extLst>
          </p:cNvPr>
          <p:cNvSpPr txBox="1"/>
          <p:nvPr/>
        </p:nvSpPr>
        <p:spPr>
          <a:xfrm>
            <a:off x="798787" y="4440276"/>
            <a:ext cx="2429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Insights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C3ED13-A5F3-84E5-3DDF-D61A2BA16588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EE6B5B-F960-1A1D-7AFD-0E70744EC3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80" y="2229466"/>
            <a:ext cx="1992911" cy="199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8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9E683-4EB5-BC30-4191-741216B3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A1FC822-90D2-CAE9-955B-9627E3EA7997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DF2FF23-49FC-B8F9-67BE-712F8ACA87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2" y="2177665"/>
            <a:ext cx="5616461" cy="2926597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E5613685-306E-0F3D-3AB4-450077CFA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7665"/>
            <a:ext cx="5616459" cy="292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35479-DC2B-7996-BF55-26A28EE4EE9C}"/>
              </a:ext>
            </a:extLst>
          </p:cNvPr>
          <p:cNvSpPr txBox="1"/>
          <p:nvPr/>
        </p:nvSpPr>
        <p:spPr>
          <a:xfrm>
            <a:off x="740258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IMF1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High-Frequency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7C1EC-1E3C-9CA1-2D73-392C458935A4}"/>
              </a:ext>
            </a:extLst>
          </p:cNvPr>
          <p:cNvSpPr txBox="1"/>
          <p:nvPr/>
        </p:nvSpPr>
        <p:spPr>
          <a:xfrm>
            <a:off x="6517862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IMF2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High-Frequency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FFEEB-63BB-968A-E666-899EF5C689C9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1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D46AE-7243-E9B6-0061-EFBC697F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4A747A6-9892-4BBF-6DF0-5177A92B0787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13EE9DDB-8B22-A736-FDB8-1598D7E930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2" y="2177665"/>
            <a:ext cx="5616461" cy="2926597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5DBAEAE-F6CE-AF8E-916F-225F3B8D1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7665"/>
            <a:ext cx="5616459" cy="292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BB27CB-9530-A3C4-D80F-A013EF871DE2}"/>
              </a:ext>
            </a:extLst>
          </p:cNvPr>
          <p:cNvSpPr txBox="1"/>
          <p:nvPr/>
        </p:nvSpPr>
        <p:spPr>
          <a:xfrm>
            <a:off x="740258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IMF3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High-Frequency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1493A-1447-FACC-FFAB-5D596FCF6B99}"/>
              </a:ext>
            </a:extLst>
          </p:cNvPr>
          <p:cNvSpPr txBox="1"/>
          <p:nvPr/>
        </p:nvSpPr>
        <p:spPr>
          <a:xfrm>
            <a:off x="6517862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IMF4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High-Frequency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6D7523A3-A8B3-DDE9-2A05-30DD1C9CE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1" y="2177664"/>
            <a:ext cx="5616461" cy="2926597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B6DE3880-944D-88DA-8630-A81BB7CEE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2177664"/>
            <a:ext cx="5616459" cy="2926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2E24EF-87F7-1206-F0EB-4AECCD9809F7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69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A161-8A7C-F741-BDA4-781701C3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6C2764E-5447-0153-5EB9-3EE57CC23A60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8BAB0FB-8F59-04C8-B4FB-14B4641232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2" y="2177665"/>
            <a:ext cx="5616461" cy="2926597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3551F9A3-9EE0-1003-6F67-AF4508FD0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7665"/>
            <a:ext cx="5616459" cy="292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2629D2-EE25-307E-7125-C2F3AA516BFD}"/>
              </a:ext>
            </a:extLst>
          </p:cNvPr>
          <p:cNvSpPr txBox="1"/>
          <p:nvPr/>
        </p:nvSpPr>
        <p:spPr>
          <a:xfrm>
            <a:off x="740258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IMF5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High-Frequency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F8A4B-106D-6BDE-2B67-849855D71702}"/>
              </a:ext>
            </a:extLst>
          </p:cNvPr>
          <p:cNvSpPr txBox="1"/>
          <p:nvPr/>
        </p:nvSpPr>
        <p:spPr>
          <a:xfrm>
            <a:off x="6517862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IMF6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Low-Frequency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4692DE1C-E51E-B610-9D60-C8905CB7B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1" y="2177664"/>
            <a:ext cx="5616461" cy="2926597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3DE8A1A6-9FE8-F6B9-B852-2D57840E3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2177664"/>
            <a:ext cx="5616459" cy="2926596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77FA7E36-FE53-59E5-4E7C-CEACDD17D9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43" y="2177659"/>
            <a:ext cx="5647337" cy="2926596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A37307AA-600F-EF39-24B0-0B2F0FB4B7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701" y="2177659"/>
            <a:ext cx="5647337" cy="292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57A9B3-B7E1-9C66-F55B-4998B831DB4D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3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6985-65FC-1F23-EFA8-4C7BFF62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781CFA9-DFAC-1792-A0D8-737C61EFDDE0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6A7970D-E05F-78C9-33AB-7B023B108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2" y="2177665"/>
            <a:ext cx="5616461" cy="2926597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4664CFA-1AC7-71DA-B8B1-2C52A5CE8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7665"/>
            <a:ext cx="5616459" cy="292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CC611A-AC38-324D-6CF9-2F87D7678689}"/>
              </a:ext>
            </a:extLst>
          </p:cNvPr>
          <p:cNvSpPr txBox="1"/>
          <p:nvPr/>
        </p:nvSpPr>
        <p:spPr>
          <a:xfrm>
            <a:off x="740258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IMF7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Low-Frequency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CF8BC3-1AC0-D3AF-974D-7E1E82719C6F}"/>
              </a:ext>
            </a:extLst>
          </p:cNvPr>
          <p:cNvSpPr txBox="1"/>
          <p:nvPr/>
        </p:nvSpPr>
        <p:spPr>
          <a:xfrm>
            <a:off x="6517862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IMF8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Low-Frequency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F80744CD-1FF7-7F20-82DC-3F32318DA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1" y="2177664"/>
            <a:ext cx="5616461" cy="2926597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AA3F79D1-8E80-494B-81EC-1B7F1F1E25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2177664"/>
            <a:ext cx="5616459" cy="2926596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BC0AECC5-2C77-8E5B-6116-3BAE141C64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701" y="2177659"/>
            <a:ext cx="5647337" cy="2926596"/>
          </a:xfrm>
          <a:prstGeom prst="rect">
            <a:avLst/>
          </a:prstGeom>
        </p:spPr>
      </p:pic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6C75A433-710C-E284-962C-ECCC57892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2181072"/>
            <a:ext cx="5616457" cy="2926595"/>
          </a:xfrm>
          <a:prstGeom prst="rect">
            <a:avLst/>
          </a:prstGeom>
        </p:spPr>
      </p:pic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A745ABE3-9BFD-217C-BA66-AA8D562F8E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58" y="2181072"/>
            <a:ext cx="5647335" cy="29265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E33630-4647-0A9E-8830-6FDA18EBF95D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4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4DE51-4131-117F-002A-178A43F0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6846C40-599C-199E-F295-E14DA68DED8E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5BFD4E3-876B-FCF0-F08F-64F4F28F6B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2" y="2177665"/>
            <a:ext cx="5616461" cy="2926597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AEB2FFDE-F644-6A2B-F61B-BC1C60B56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7665"/>
            <a:ext cx="5616459" cy="292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A46ED8-8FA6-9295-DB1A-AB09E67822C1}"/>
              </a:ext>
            </a:extLst>
          </p:cNvPr>
          <p:cNvSpPr txBox="1"/>
          <p:nvPr/>
        </p:nvSpPr>
        <p:spPr>
          <a:xfrm>
            <a:off x="740258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IMF9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Low-Frequency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F1888-74A6-039F-3AED-787DB4CB802F}"/>
              </a:ext>
            </a:extLst>
          </p:cNvPr>
          <p:cNvSpPr txBox="1"/>
          <p:nvPr/>
        </p:nvSpPr>
        <p:spPr>
          <a:xfrm>
            <a:off x="6517862" y="5315188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u="none" strike="noStrike" baseline="0" dirty="0">
                <a:latin typeface="Century Gothic" panose="020B0502020202020204" pitchFamily="34" charset="0"/>
              </a:rPr>
              <a:t>IMF10</a:t>
            </a:r>
            <a:r>
              <a:rPr lang="en-US" sz="1800" b="0" i="0" u="none" strike="noStrike" baseline="0" dirty="0">
                <a:latin typeface="Century Gothic" panose="020B0502020202020204" pitchFamily="34" charset="0"/>
              </a:rPr>
              <a:t>: Low-Frequency Component.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FB12136D-82BB-8F76-71C1-6D6BB0D62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2177664"/>
            <a:ext cx="5616459" cy="2926596"/>
          </a:xfrm>
          <a:prstGeom prst="rect">
            <a:avLst/>
          </a:prstGeom>
        </p:spPr>
      </p:pic>
      <p:pic>
        <p:nvPicPr>
          <p:cNvPr id="15" name="Content Placeholder 5">
            <a:extLst>
              <a:ext uri="{FF2B5EF4-FFF2-40B4-BE49-F238E27FC236}">
                <a16:creationId xmlns:a16="http://schemas.microsoft.com/office/drawing/2014/main" id="{E468C940-C17C-F6DF-3A16-423A071D02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46" y="2177663"/>
            <a:ext cx="5647337" cy="2926596"/>
          </a:xfrm>
          <a:prstGeom prst="rect">
            <a:avLst/>
          </a:prstGeo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1014A29D-C581-80AC-A884-DA5F2BACAD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643" y="2177663"/>
            <a:ext cx="5606166" cy="29265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3581E3-EF6C-1B78-18B4-C754C4F1F2D2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2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925E-DC82-2523-5C61-FE9A9F67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DC2B34-36AE-736B-616C-D0AD8B401790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A31CA-282A-5CEE-6408-7645C38F66EA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C4C8A-98B1-2C7B-FF48-C68DC85D552A}"/>
              </a:ext>
            </a:extLst>
          </p:cNvPr>
          <p:cNvSpPr txBox="1"/>
          <p:nvPr/>
        </p:nvSpPr>
        <p:spPr>
          <a:xfrm>
            <a:off x="873457" y="2274513"/>
            <a:ext cx="11632440" cy="3363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BF5107"/>
                </a:solidFill>
                <a:latin typeface="Century Gothic" panose="020B0502020202020204" pitchFamily="34" charset="0"/>
              </a:rPr>
              <a:t>High-Frequency IMFs (IMF 1–5):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     Both models closely match ground truth.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GRU shows superior alignment</a:t>
            </a:r>
            <a:r>
              <a:rPr lang="en-US" dirty="0">
                <a:latin typeface="Century Gothic" panose="020B0502020202020204" pitchFamily="34" charset="0"/>
              </a:rPr>
              <a:t>, confirming its strength in handling rapid signal changes.</a:t>
            </a:r>
          </a:p>
          <a:p>
            <a:pPr>
              <a:lnSpc>
                <a:spcPct val="15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BF5107"/>
                </a:solidFill>
                <a:latin typeface="Century Gothic" panose="020B0502020202020204" pitchFamily="34" charset="0"/>
              </a:rPr>
              <a:t>Low-Frequency IMFs (IMF 6–10):</a:t>
            </a:r>
            <a:endParaRPr lang="en-US" dirty="0">
              <a:solidFill>
                <a:srgbClr val="BF5107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     Proposed model (GRU) </a:t>
            </a:r>
            <a:r>
              <a:rPr lang="en-US" b="1" dirty="0">
                <a:latin typeface="Century Gothic" panose="020B0502020202020204" pitchFamily="34" charset="0"/>
              </a:rPr>
              <a:t>captures the trend effectively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     Bi-LSTM underperforms</a:t>
            </a:r>
            <a:r>
              <a:rPr lang="en-US" dirty="0">
                <a:latin typeface="Century Gothic" panose="020B0502020202020204" pitchFamily="34" charset="0"/>
              </a:rPr>
              <a:t> in the hybrid model fails to track trend accurately and introduces larger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   deviation from ground truth.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3351725E-A9E5-36E6-3D20-49AB11078D75}"/>
              </a:ext>
            </a:extLst>
          </p:cNvPr>
          <p:cNvSpPr/>
          <p:nvPr/>
        </p:nvSpPr>
        <p:spPr>
          <a:xfrm rot="5400000">
            <a:off x="575700" y="2455034"/>
            <a:ext cx="186922" cy="161139"/>
          </a:xfrm>
          <a:prstGeom prst="triangle">
            <a:avLst/>
          </a:prstGeom>
          <a:solidFill>
            <a:srgbClr val="BF51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A26586CD-0CD0-78FA-6EE0-F5ECBE215F11}"/>
              </a:ext>
            </a:extLst>
          </p:cNvPr>
          <p:cNvSpPr/>
          <p:nvPr/>
        </p:nvSpPr>
        <p:spPr>
          <a:xfrm rot="5400000">
            <a:off x="575699" y="4107423"/>
            <a:ext cx="186922" cy="161139"/>
          </a:xfrm>
          <a:prstGeom prst="triangle">
            <a:avLst/>
          </a:prstGeom>
          <a:solidFill>
            <a:srgbClr val="BF51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D744C4-D0B7-63FE-54FF-22EDEE5B981B}"/>
              </a:ext>
            </a:extLst>
          </p:cNvPr>
          <p:cNvCxnSpPr>
            <a:cxnSpLocks/>
          </p:cNvCxnSpPr>
          <p:nvPr/>
        </p:nvCxnSpPr>
        <p:spPr>
          <a:xfrm>
            <a:off x="995880" y="2864398"/>
            <a:ext cx="0" cy="648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74D045-CB8E-2963-44C2-6BD2D7AAD52B}"/>
              </a:ext>
            </a:extLst>
          </p:cNvPr>
          <p:cNvCxnSpPr>
            <a:cxnSpLocks/>
          </p:cNvCxnSpPr>
          <p:nvPr/>
        </p:nvCxnSpPr>
        <p:spPr>
          <a:xfrm>
            <a:off x="998754" y="4518339"/>
            <a:ext cx="0" cy="10161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0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35B6-52BB-5F29-BCB5-FCFCFFFB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312AF26-59BB-4A5C-DD02-B3CF87800D84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89777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 3: GRU-</a:t>
            </a:r>
            <a:r>
              <a:rPr lang="en-US" sz="3400" b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34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Based on Frequency Decomposition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B4C4F-DBAE-3A8D-1F88-E0FA5EF570A1}"/>
              </a:ext>
            </a:extLst>
          </p:cNvPr>
          <p:cNvSpPr txBox="1"/>
          <p:nvPr/>
        </p:nvSpPr>
        <p:spPr>
          <a:xfrm>
            <a:off x="0" y="1012993"/>
            <a:ext cx="1219199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IMF-Level Performance Analysis</a:t>
            </a:r>
            <a:endParaRPr lang="en-VN" sz="2400" b="1" dirty="0">
              <a:solidFill>
                <a:srgbClr val="BF5107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0F4AB1-C4D1-5418-FD0C-5997A4D869BC}"/>
              </a:ext>
            </a:extLst>
          </p:cNvPr>
          <p:cNvSpPr txBox="1"/>
          <p:nvPr/>
        </p:nvSpPr>
        <p:spPr>
          <a:xfrm>
            <a:off x="727347" y="4726034"/>
            <a:ext cx="2429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F5107"/>
                </a:solidFill>
                <a:latin typeface="Century Gothic" panose="020B0502020202020204" pitchFamily="34" charset="0"/>
              </a:rPr>
              <a:t>Insights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182577B-5B59-1A86-55C0-3CB05BFD26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40" y="2515224"/>
            <a:ext cx="1992911" cy="1992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4F221-7A14-0950-BB9D-5DD46F493C63}"/>
              </a:ext>
            </a:extLst>
          </p:cNvPr>
          <p:cNvSpPr txBox="1"/>
          <p:nvPr/>
        </p:nvSpPr>
        <p:spPr>
          <a:xfrm>
            <a:off x="3326459" y="2388383"/>
            <a:ext cx="8272246" cy="280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Bi-LSTM’s complexity could lead to </a:t>
            </a:r>
            <a:r>
              <a:rPr lang="en-US" sz="2000" b="1" dirty="0">
                <a:latin typeface="Century Gothic" panose="020B0502020202020204" pitchFamily="34" charset="0"/>
              </a:rPr>
              <a:t>overfitting</a:t>
            </a:r>
            <a:r>
              <a:rPr lang="en-US" sz="2000" dirty="0">
                <a:latin typeface="Century Gothic" panose="020B0502020202020204" pitchFamily="34" charset="0"/>
              </a:rPr>
              <a:t> or </a:t>
            </a:r>
            <a:r>
              <a:rPr lang="en-US" sz="2000" b="1" dirty="0">
                <a:latin typeface="Century Gothic" panose="020B0502020202020204" pitchFamily="34" charset="0"/>
              </a:rPr>
              <a:t>loss of temporal precision</a:t>
            </a:r>
            <a:r>
              <a:rPr lang="en-US" sz="2000" dirty="0">
                <a:latin typeface="Century Gothic" panose="020B0502020202020204" pitchFamily="34" charset="0"/>
              </a:rPr>
              <a:t> on smoothed IMFs.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- The GRU-based model alone offers more robust, reliable, and generalizable forecasting, making it a better fit for both high-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and low-frequency IMF predictions.</a:t>
            </a:r>
          </a:p>
        </p:txBody>
      </p:sp>
    </p:spTree>
    <p:extLst>
      <p:ext uri="{BB962C8B-B14F-4D97-AF65-F5344CB8AC3E}">
        <p14:creationId xmlns:p14="http://schemas.microsoft.com/office/powerpoint/2010/main" val="171786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B00EE7C-DB30-CDB7-5DF1-F08801BBF6CB}"/>
              </a:ext>
            </a:extLst>
          </p:cNvPr>
          <p:cNvSpPr txBox="1">
            <a:spLocks/>
          </p:cNvSpPr>
          <p:nvPr/>
        </p:nvSpPr>
        <p:spPr>
          <a:xfrm>
            <a:off x="0" y="2766218"/>
            <a:ext cx="12191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rgbClr val="435368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3220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0448-52F9-0880-C8A8-72CF7643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00F80E-3E76-B003-06AF-D085D9C5B0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20293" r="46386"/>
          <a:stretch/>
        </p:blipFill>
        <p:spPr>
          <a:xfrm>
            <a:off x="715070" y="738123"/>
            <a:ext cx="2880000" cy="1176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0BC9F5-7724-B6F9-8AB5-4E45A0DFB78D}"/>
              </a:ext>
            </a:extLst>
          </p:cNvPr>
          <p:cNvPicPr>
            <a:picLocks/>
          </p:cNvPicPr>
          <p:nvPr/>
        </p:nvPicPr>
        <p:blipFill>
          <a:blip r:embed="rId5"/>
          <a:srcRect l="48212" r="18467"/>
          <a:stretch/>
        </p:blipFill>
        <p:spPr>
          <a:xfrm>
            <a:off x="4656000" y="738123"/>
            <a:ext cx="2880000" cy="1176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CD6B8E-3FC0-9122-0BB1-4C5C914D8ADD}"/>
              </a:ext>
            </a:extLst>
          </p:cNvPr>
          <p:cNvPicPr>
            <a:picLocks/>
          </p:cNvPicPr>
          <p:nvPr/>
        </p:nvPicPr>
        <p:blipFill>
          <a:blip r:embed="rId5"/>
          <a:srcRect l="66642"/>
          <a:stretch/>
        </p:blipFill>
        <p:spPr>
          <a:xfrm>
            <a:off x="8596930" y="738123"/>
            <a:ext cx="2880000" cy="1176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684DD9-B494-EA7B-3C5C-291E72B6018C}"/>
              </a:ext>
            </a:extLst>
          </p:cNvPr>
          <p:cNvSpPr txBox="1"/>
          <p:nvPr/>
        </p:nvSpPr>
        <p:spPr>
          <a:xfrm>
            <a:off x="705317" y="809563"/>
            <a:ext cx="2880000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445268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Experiment 1</a:t>
            </a:r>
            <a:endParaRPr lang="en-US" sz="2400" b="1" dirty="0">
              <a:solidFill>
                <a:srgbClr val="445268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445268"/>
                </a:solidFill>
                <a:latin typeface="Century Gothic" panose="020B0502020202020204" pitchFamily="34" charset="0"/>
              </a:rPr>
              <a:t>Baseline comparison</a:t>
            </a:r>
            <a:endParaRPr lang="en-VN" sz="1400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8BB73-1C34-DE48-99BB-7D68ADC2D251}"/>
              </a:ext>
            </a:extLst>
          </p:cNvPr>
          <p:cNvSpPr txBox="1"/>
          <p:nvPr/>
        </p:nvSpPr>
        <p:spPr>
          <a:xfrm>
            <a:off x="4646241" y="809562"/>
            <a:ext cx="2880000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Experiment 2</a:t>
            </a: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445268"/>
                </a:solidFill>
                <a:latin typeface="Century Gothic" panose="020B0502020202020204" pitchFamily="34" charset="0"/>
              </a:rPr>
              <a:t>Additional Features</a:t>
            </a:r>
            <a:endParaRPr lang="en-VN" sz="1600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6B01D-7A30-7DC6-DEC3-CF84E145CB69}"/>
              </a:ext>
            </a:extLst>
          </p:cNvPr>
          <p:cNvSpPr txBox="1"/>
          <p:nvPr/>
        </p:nvSpPr>
        <p:spPr>
          <a:xfrm>
            <a:off x="8577412" y="809561"/>
            <a:ext cx="2880000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 Experiment 3</a:t>
            </a: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445268"/>
                </a:solidFill>
                <a:latin typeface="Century Gothic" panose="020B0502020202020204" pitchFamily="34" charset="0"/>
              </a:rPr>
              <a:t>GRU-</a:t>
            </a:r>
            <a:r>
              <a:rPr lang="en-US" sz="2000" i="1" dirty="0" err="1">
                <a:solidFill>
                  <a:srgbClr val="445268"/>
                </a:solidFill>
                <a:latin typeface="Century Gothic" panose="020B0502020202020204" pitchFamily="34" charset="0"/>
              </a:rPr>
              <a:t>BiLSTM</a:t>
            </a:r>
            <a:r>
              <a:rPr lang="en-US" sz="2000" i="1" dirty="0">
                <a:solidFill>
                  <a:srgbClr val="445268"/>
                </a:solidFill>
                <a:latin typeface="Century Gothic" panose="020B0502020202020204" pitchFamily="34" charset="0"/>
              </a:rPr>
              <a:t> Hybrid</a:t>
            </a:r>
            <a:endParaRPr lang="en-VN" sz="2000" i="1" dirty="0">
              <a:solidFill>
                <a:srgbClr val="445268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8A96C-80E5-3B4C-D044-9FA5AE1BA3E5}"/>
              </a:ext>
            </a:extLst>
          </p:cNvPr>
          <p:cNvSpPr txBox="1"/>
          <p:nvPr/>
        </p:nvSpPr>
        <p:spPr>
          <a:xfrm>
            <a:off x="533025" y="2430580"/>
            <a:ext cx="3310313" cy="410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The proposed </a:t>
            </a:r>
            <a:r>
              <a:rPr lang="en-US" sz="16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CEEMDAN–EWT–GRU outperformed benchmark and baseline models </a:t>
            </a:r>
            <a:r>
              <a:rPr lang="en-US" sz="1600" dirty="0">
                <a:latin typeface="Century Gothic" panose="020B0502020202020204" pitchFamily="34" charset="0"/>
              </a:rPr>
              <a:t>(LSTM, GRU, Bi-LSTM, Transformer).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GRU offered: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Fewer parameters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Faster training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Superior handling of high-frequency IMFs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0146E-9BCB-7787-023C-171FB8BE5A69}"/>
              </a:ext>
            </a:extLst>
          </p:cNvPr>
          <p:cNvSpPr txBox="1"/>
          <p:nvPr/>
        </p:nvSpPr>
        <p:spPr>
          <a:xfrm>
            <a:off x="4336376" y="2423464"/>
            <a:ext cx="3536040" cy="336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Multi-feature variants degraded performance</a:t>
            </a:r>
            <a:r>
              <a:rPr lang="en-US" sz="1600" dirty="0">
                <a:latin typeface="Century Gothic" panose="020B0502020202020204" pitchFamily="34" charset="0"/>
              </a:rPr>
              <a:t> due to: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CEEMDAN's univariate design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Frequency misalignment across features.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- Introduction of noisy, mixed IMFs.</a:t>
            </a:r>
          </a:p>
          <a:p>
            <a:pPr lvl="1"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Best result still achieved with </a:t>
            </a:r>
            <a:r>
              <a:rPr lang="en-US" sz="16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a single feature</a:t>
            </a:r>
            <a:r>
              <a:rPr lang="en-US" sz="1600" dirty="0">
                <a:solidFill>
                  <a:srgbClr val="E78A4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>
                <a:latin typeface="Century Gothic" panose="020B0502020202020204" pitchFamily="34" charset="0"/>
              </a:rPr>
              <a:t>(Wind Power).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8F2D1-6B84-CF7D-C95E-73488575AF7B}"/>
              </a:ext>
            </a:extLst>
          </p:cNvPr>
          <p:cNvSpPr txBox="1"/>
          <p:nvPr/>
        </p:nvSpPr>
        <p:spPr>
          <a:xfrm>
            <a:off x="8483871" y="2430580"/>
            <a:ext cx="3175103" cy="300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Bi-LSTM failed to improve low-frequency IMFs prediction </a:t>
            </a:r>
            <a:r>
              <a:rPr lang="en-US" sz="1600" dirty="0">
                <a:latin typeface="Century Gothic" panose="020B0502020202020204" pitchFamily="34" charset="0"/>
              </a:rPr>
              <a:t>because of its’ complexity, memory usage, redundancy.</a:t>
            </a:r>
          </a:p>
          <a:p>
            <a:pPr lvl="1"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anose="020B0502020202020204" pitchFamily="34" charset="0"/>
              </a:rPr>
              <a:t>GRU proved </a:t>
            </a:r>
            <a:r>
              <a:rPr lang="en-US" sz="1600" b="1" dirty="0">
                <a:solidFill>
                  <a:srgbClr val="E78A40"/>
                </a:solidFill>
                <a:latin typeface="Century Gothic" panose="020B0502020202020204" pitchFamily="34" charset="0"/>
              </a:rPr>
              <a:t>sufficient and efficient</a:t>
            </a:r>
            <a:r>
              <a:rPr lang="en-US" sz="1600" dirty="0">
                <a:solidFill>
                  <a:srgbClr val="E78A4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>
                <a:latin typeface="Century Gothic" panose="020B0502020202020204" pitchFamily="34" charset="0"/>
              </a:rPr>
              <a:t>for both high- and low-frequency IMFs.</a:t>
            </a:r>
          </a:p>
        </p:txBody>
      </p:sp>
    </p:spTree>
    <p:extLst>
      <p:ext uri="{BB962C8B-B14F-4D97-AF65-F5344CB8AC3E}">
        <p14:creationId xmlns:p14="http://schemas.microsoft.com/office/powerpoint/2010/main" val="824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27F9-57FF-7645-F684-8D53CAE3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5ACC56-577A-F779-B418-8A303E314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69"/>
            <a:ext cx="4271963" cy="6861369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671FA51E-7BE6-7532-C3DF-9436EAF3D28F}"/>
              </a:ext>
            </a:extLst>
          </p:cNvPr>
          <p:cNvSpPr txBox="1">
            <a:spLocks/>
          </p:cNvSpPr>
          <p:nvPr/>
        </p:nvSpPr>
        <p:spPr>
          <a:xfrm>
            <a:off x="1" y="2974315"/>
            <a:ext cx="4271962" cy="90599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45268"/>
                </a:solidFill>
                <a:latin typeface="Century Gothic" panose="020B0502020202020204" pitchFamily="34" charset="0"/>
              </a:rPr>
              <a:t>Future Work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4C84EA-5D53-664C-F518-37C50C73F83A}"/>
              </a:ext>
            </a:extLst>
          </p:cNvPr>
          <p:cNvGrpSpPr/>
          <p:nvPr/>
        </p:nvGrpSpPr>
        <p:grpSpPr>
          <a:xfrm>
            <a:off x="4988067" y="322980"/>
            <a:ext cx="6456984" cy="6208668"/>
            <a:chOff x="4842293" y="324666"/>
            <a:chExt cx="6456984" cy="62086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B5A9A8-4C69-A565-075D-87442C5F2115}"/>
                </a:ext>
              </a:extLst>
            </p:cNvPr>
            <p:cNvSpPr txBox="1"/>
            <p:nvPr/>
          </p:nvSpPr>
          <p:spPr>
            <a:xfrm>
              <a:off x="4842293" y="324666"/>
              <a:ext cx="1603324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sz="19900" b="1" dirty="0">
                  <a:solidFill>
                    <a:srgbClr val="DAE8D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E29B01-2DF9-31BF-AF7C-F85174A8544D}"/>
                </a:ext>
              </a:extLst>
            </p:cNvPr>
            <p:cNvSpPr txBox="1"/>
            <p:nvPr/>
          </p:nvSpPr>
          <p:spPr>
            <a:xfrm>
              <a:off x="6445617" y="3378624"/>
              <a:ext cx="1603324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sz="19900" b="1" dirty="0">
                  <a:solidFill>
                    <a:srgbClr val="D2DCF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FB45C04-09A5-0119-95A8-6BF751A9CA5F}"/>
                </a:ext>
              </a:extLst>
            </p:cNvPr>
            <p:cNvSpPr txBox="1"/>
            <p:nvPr/>
          </p:nvSpPr>
          <p:spPr>
            <a:xfrm>
              <a:off x="5492201" y="1821234"/>
              <a:ext cx="51892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entury Gothic" panose="020B0502020202020204" pitchFamily="34" charset="0"/>
                </a:rPr>
                <a:t>Multivariate Decomposition Approaches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8FB1A6-252B-3AEF-9614-D78676782E16}"/>
                </a:ext>
              </a:extLst>
            </p:cNvPr>
            <p:cNvSpPr txBox="1"/>
            <p:nvPr/>
          </p:nvSpPr>
          <p:spPr>
            <a:xfrm>
              <a:off x="5036440" y="3228945"/>
              <a:ext cx="610076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Century Gothic" panose="020B0502020202020204" pitchFamily="34" charset="0"/>
                </a:rPr>
                <a:t>Longer-Term Forecasting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DBC30C-7C41-E4EA-6BD9-8577A5CA2C85}"/>
                </a:ext>
              </a:extLst>
            </p:cNvPr>
            <p:cNvSpPr txBox="1"/>
            <p:nvPr/>
          </p:nvSpPr>
          <p:spPr>
            <a:xfrm>
              <a:off x="4842293" y="4636656"/>
              <a:ext cx="645698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Century Gothic" panose="020B0502020202020204" pitchFamily="34" charset="0"/>
                </a:rPr>
                <a:t>Test The Method on Diverse Wind Power Datasets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B0BA13-7DC1-63CC-EB34-A3CD133EDF30}"/>
                </a:ext>
              </a:extLst>
            </p:cNvPr>
            <p:cNvSpPr txBox="1"/>
            <p:nvPr/>
          </p:nvSpPr>
          <p:spPr>
            <a:xfrm>
              <a:off x="9695953" y="1851645"/>
              <a:ext cx="1603324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sz="19900" b="1" dirty="0">
                  <a:solidFill>
                    <a:srgbClr val="D2DFE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008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FF3BC1-5624-E239-EF53-BF9873CF4489}"/>
              </a:ext>
            </a:extLst>
          </p:cNvPr>
          <p:cNvSpPr txBox="1"/>
          <p:nvPr/>
        </p:nvSpPr>
        <p:spPr>
          <a:xfrm>
            <a:off x="2556083" y="2898085"/>
            <a:ext cx="679873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This thesis work has been submitted to and is under review by the </a:t>
            </a:r>
            <a:r>
              <a:rPr lang="en-US" sz="2100" b="1" i="0" u="none" strike="noStrike" dirty="0">
                <a:solidFill>
                  <a:srgbClr val="3C6899"/>
                </a:solidFill>
                <a:effectLst/>
                <a:latin typeface="Century Gothic" panose="020B0502020202020204" pitchFamily="34" charset="0"/>
              </a:rPr>
              <a:t>2025 IEEE International Conference on Systems, Man, and Cybernetics (SMC)</a:t>
            </a: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VN" sz="2100" b="1" dirty="0">
              <a:solidFill>
                <a:srgbClr val="3C6899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1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7BCE5-C5D9-D05E-1EDC-68B1CE79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5A0F93-516D-6144-E6B5-8D723547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772" y="785496"/>
            <a:ext cx="7014939" cy="244936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kern="12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 </a:t>
            </a:r>
            <a:br>
              <a:rPr lang="en-US" sz="5400" kern="12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5400" kern="1200" dirty="0">
                <a:solidFill>
                  <a:schemeClr val="bg1"/>
                </a:solidFill>
                <a:latin typeface="Century Gothic" panose="020B0502020202020204" pitchFamily="34" charset="0"/>
              </a:rPr>
              <a:t>for listening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264D6-48BE-CBEC-C807-93EEBDF77CDF}"/>
              </a:ext>
            </a:extLst>
          </p:cNvPr>
          <p:cNvSpPr txBox="1"/>
          <p:nvPr/>
        </p:nvSpPr>
        <p:spPr>
          <a:xfrm>
            <a:off x="4272157" y="3710449"/>
            <a:ext cx="440094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u="none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Abdulrahman 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Almansoori</a:t>
            </a:r>
            <a:r>
              <a:rPr lang="en-US" sz="1600" b="0" i="0" u="none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0" i="0" u="none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MSc Student in Machine Learning</a:t>
            </a:r>
          </a:p>
          <a:p>
            <a:r>
              <a:rPr lang="en-US" sz="1600" i="0" u="none" strike="noStrike" baseline="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Abdulrahman.Almansoori</a:t>
            </a:r>
            <a:r>
              <a:rPr lang="en-US" sz="16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@mbzuai.ac.ae</a:t>
            </a:r>
            <a:endParaRPr lang="en-US" sz="1600" i="0" u="none" strike="noStrike" baseline="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1600" b="0" i="0" u="none" strike="noStrike" baseline="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b="0" i="0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Supervisor: 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Professor Fakhri 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Karray</a:t>
            </a:r>
            <a:endParaRPr lang="en-US" sz="160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b="0" i="0" u="none" strike="noStrike" baseline="0" dirty="0">
                <a:solidFill>
                  <a:schemeClr val="tx2"/>
                </a:solidFill>
                <a:latin typeface="Century Gothic" panose="020B0502020202020204" pitchFamily="34" charset="0"/>
              </a:rPr>
              <a:t>Professor of Machine Learning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Fakhri.Karray@mbzuai.ac.ae</a:t>
            </a:r>
            <a:endParaRPr lang="en-US" sz="1600" b="0" i="0" u="none" strike="noStrike" baseline="0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4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5087</Words>
  <Application>Microsoft Office PowerPoint</Application>
  <PresentationFormat>Widescreen</PresentationFormat>
  <Paragraphs>2622</Paragraphs>
  <Slides>52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Century Gothic</vt:lpstr>
      <vt:lpstr>Office Theme</vt:lpstr>
      <vt:lpstr>A Hybrid Decomposition-Based  Deep Learning Approach  for Enhanced Wind Power Forecasting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Decomposition-Based  Deep Learning Approach  for Enhanced Wind Power Forecasting</dc:title>
  <dc:creator>Abdulrahman Almansoori</dc:creator>
  <cp:lastModifiedBy>Abdulrahman Almansoori</cp:lastModifiedBy>
  <cp:revision>293</cp:revision>
  <dcterms:created xsi:type="dcterms:W3CDTF">2025-03-28T10:11:31Z</dcterms:created>
  <dcterms:modified xsi:type="dcterms:W3CDTF">2025-04-09T17:23:56Z</dcterms:modified>
</cp:coreProperties>
</file>